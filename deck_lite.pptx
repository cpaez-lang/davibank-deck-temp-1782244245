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C11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629400"/>
            <a:ext cx="182880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 i="0">
                <a:solidFill>
                  <a:srgbClr val="475862"/>
                </a:solidFill>
                <a:latin typeface="Open Sans"/>
              </a:rPr>
              <a:t>1 /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6629400"/>
            <a:ext cx="246888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 i="1">
                <a:solidFill>
                  <a:srgbClr val="475862"/>
                </a:solidFill>
                <a:latin typeface="Open Sans"/>
              </a:rPr>
              <a:t>Confidencial — Uso Interno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6629400"/>
            <a:ext cx="228600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1" i="0">
                <a:solidFill>
                  <a:srgbClr val="0176D3"/>
                </a:solidFill>
                <a:latin typeface="Open Sans"/>
              </a:rPr>
              <a:t>Salesforce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4864"/>
            <a:ext cx="12191695" cy="6803136"/>
          </a:xfrm>
          <a:prstGeom prst="rect">
            <a:avLst/>
          </a:prstGeom>
          <a:solidFill>
            <a:srgbClr val="253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126480"/>
            <a:ext cx="12191695" cy="731520"/>
          </a:xfrm>
          <a:prstGeom prst="rect">
            <a:avLst/>
          </a:prstGeom>
          <a:solidFill>
            <a:srgbClr val="EC11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035040"/>
            <a:ext cx="12191695" cy="45720"/>
          </a:xfrm>
          <a:prstGeom prst="rect">
            <a:avLst/>
          </a:prstGeom>
          <a:solidFill>
            <a:srgbClr val="FFC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828800"/>
            <a:ext cx="11247120" cy="10972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5400" b="1" i="0">
                <a:solidFill>
                  <a:srgbClr val="FFFFFF"/>
                </a:solidFill>
                <a:latin typeface="Montserrat"/>
              </a:rPr>
              <a:t>Transformación Digital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743200"/>
            <a:ext cx="11247120" cy="7315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5400" b="1" i="0">
                <a:solidFill>
                  <a:srgbClr val="FFC300"/>
                </a:solidFill>
                <a:latin typeface="Montserrat"/>
              </a:rPr>
              <a:t>del Alta de Cliente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023360"/>
            <a:ext cx="1124712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  <a:latin typeface="Open Sans"/>
              </a:rPr>
              <a:t>Arquitectura Salesforce Sales Cloud para Davibank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04007" y="4937760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0176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/>
          <a:lstStyle/>
          <a:p>
            <a:pPr algn="ctr"/>
            <a:r>
              <a:rPr b="1" sz="1400">
                <a:solidFill>
                  <a:srgbClr val="FFFFFF"/>
                </a:solidFill>
                <a:latin typeface="Montserrat"/>
              </a:rPr>
              <a:t>Sales Cloud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90007" y="4937760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EC11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/>
          <a:lstStyle/>
          <a:p>
            <a:pPr algn="ctr"/>
            <a:r>
              <a:rPr b="1" sz="1400">
                <a:solidFill>
                  <a:srgbClr val="FFFFFF"/>
                </a:solidFill>
                <a:latin typeface="Montserrat"/>
              </a:rPr>
              <a:t>Agentforce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76007" y="4937760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1384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/>
          <a:lstStyle/>
          <a:p>
            <a:pPr algn="ctr"/>
            <a:r>
              <a:rPr b="1" sz="1400">
                <a:solidFill>
                  <a:srgbClr val="FFFFFF"/>
                </a:solidFill>
                <a:latin typeface="Montserrat"/>
              </a:rPr>
              <a:t>Informatica IDMC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669280"/>
            <a:ext cx="1124712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400" b="0" i="1">
                <a:solidFill>
                  <a:srgbClr val="FFFFFF"/>
                </a:solidFill>
                <a:latin typeface="Open Sans"/>
              </a:rPr>
              <a:t>Junio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C11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629400"/>
            <a:ext cx="182880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 i="0">
                <a:solidFill>
                  <a:srgbClr val="475862"/>
                </a:solidFill>
                <a:latin typeface="Open Sans"/>
              </a:rPr>
              <a:t>2 /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6629400"/>
            <a:ext cx="246888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 i="1">
                <a:solidFill>
                  <a:srgbClr val="475862"/>
                </a:solidFill>
                <a:latin typeface="Open Sans"/>
              </a:rPr>
              <a:t>Confidencial — Uso Interno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6629400"/>
            <a:ext cx="228600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1" i="0">
                <a:solidFill>
                  <a:srgbClr val="0176D3"/>
                </a:solidFill>
                <a:latin typeface="Open Sans"/>
              </a:rPr>
              <a:t>Salesforce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"/>
            <a:ext cx="1124712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600" b="1" i="0">
                <a:solidFill>
                  <a:srgbClr val="25337E"/>
                </a:solidFill>
                <a:latin typeface="Montserrat"/>
              </a:rPr>
              <a:t>Agenda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280160"/>
            <a:ext cx="11247120" cy="9601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280160"/>
            <a:ext cx="1188720" cy="960120"/>
          </a:xfrm>
          <a:prstGeom prst="rect">
            <a:avLst/>
          </a:prstGeom>
          <a:solidFill>
            <a:srgbClr val="EC11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280160"/>
            <a:ext cx="1188720" cy="9601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Montserrat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1444752"/>
            <a:ext cx="960120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800" b="1" i="0">
                <a:solidFill>
                  <a:srgbClr val="25337E"/>
                </a:solidFill>
                <a:latin typeface="Montserrat"/>
              </a:rPr>
              <a:t>Entendimiento del Proyecto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1828800"/>
            <a:ext cx="96012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 i="0">
                <a:solidFill>
                  <a:srgbClr val="475862"/>
                </a:solidFill>
                <a:latin typeface="Open Sans"/>
              </a:rPr>
              <a:t>Diagrama del Cliente y principios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286000"/>
            <a:ext cx="11247120" cy="9601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2286000"/>
            <a:ext cx="1188720" cy="960120"/>
          </a:xfrm>
          <a:prstGeom prst="rect">
            <a:avLst/>
          </a:prstGeom>
          <a:solidFill>
            <a:srgbClr val="EC11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286000"/>
            <a:ext cx="1188720" cy="9601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Montserrat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2450592"/>
            <a:ext cx="960120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800" b="1" i="0">
                <a:solidFill>
                  <a:srgbClr val="25337E"/>
                </a:solidFill>
                <a:latin typeface="Montserrat"/>
              </a:rPr>
              <a:t>Solución 1: Sales Cloud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2834640"/>
            <a:ext cx="96012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 i="0">
                <a:solidFill>
                  <a:srgbClr val="475862"/>
                </a:solidFill>
                <a:latin typeface="Open Sans"/>
              </a:rPr>
              <a:t>Formulario Web Embebido en davibank.com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291840"/>
            <a:ext cx="11247120" cy="9601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3291840"/>
            <a:ext cx="1188720" cy="960120"/>
          </a:xfrm>
          <a:prstGeom prst="rect">
            <a:avLst/>
          </a:prstGeom>
          <a:solidFill>
            <a:srgbClr val="EC11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3291840"/>
            <a:ext cx="1188720" cy="9601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Montserrat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3456432"/>
            <a:ext cx="960120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800" b="1" i="0">
                <a:solidFill>
                  <a:srgbClr val="25337E"/>
                </a:solidFill>
                <a:latin typeface="Montserrat"/>
              </a:rPr>
              <a:t>Solución 2: Agentforce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3840480"/>
            <a:ext cx="96012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 i="0">
                <a:solidFill>
                  <a:srgbClr val="475862"/>
                </a:solidFill>
                <a:latin typeface="Open Sans"/>
              </a:rPr>
              <a:t>Onboarding 24/7 sobre Sales Cloud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4297680"/>
            <a:ext cx="11247120" cy="9601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4297680"/>
            <a:ext cx="1188720" cy="960120"/>
          </a:xfrm>
          <a:prstGeom prst="rect">
            <a:avLst/>
          </a:prstGeom>
          <a:solidFill>
            <a:srgbClr val="EC11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4297680"/>
            <a:ext cx="1188720" cy="9601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Montserrat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28800" y="4462272"/>
            <a:ext cx="960120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800" b="1" i="0">
                <a:solidFill>
                  <a:srgbClr val="25337E"/>
                </a:solidFill>
                <a:latin typeface="Montserrat"/>
              </a:rPr>
              <a:t>Comparativa y ROI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28800" y="4846320"/>
            <a:ext cx="96012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 i="0">
                <a:solidFill>
                  <a:srgbClr val="475862"/>
                </a:solidFill>
                <a:latin typeface="Open Sans"/>
              </a:rPr>
              <a:t>Beneficios y retorno a 12 meses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5303520"/>
            <a:ext cx="11247120" cy="9601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7200" y="5303520"/>
            <a:ext cx="1188720" cy="960120"/>
          </a:xfrm>
          <a:prstGeom prst="rect">
            <a:avLst/>
          </a:prstGeom>
          <a:solidFill>
            <a:srgbClr val="EC11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5303520"/>
            <a:ext cx="1188720" cy="9601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Montserrat"/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0" y="5468112"/>
            <a:ext cx="960120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800" b="1" i="0">
                <a:solidFill>
                  <a:srgbClr val="25337E"/>
                </a:solidFill>
                <a:latin typeface="Montserrat"/>
              </a:rPr>
              <a:t>Lista de Materiales (BoM)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828800" y="5852160"/>
            <a:ext cx="96012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 i="0">
                <a:solidFill>
                  <a:srgbClr val="475862"/>
                </a:solidFill>
                <a:latin typeface="Open Sans"/>
              </a:rPr>
              <a:t>Ambas soluciones detalladas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C11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629400"/>
            <a:ext cx="182880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 i="0">
                <a:solidFill>
                  <a:srgbClr val="475862"/>
                </a:solidFill>
                <a:latin typeface="Open Sans"/>
              </a:rPr>
              <a:t>3 /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6629400"/>
            <a:ext cx="246888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 i="1">
                <a:solidFill>
                  <a:srgbClr val="475862"/>
                </a:solidFill>
                <a:latin typeface="Open Sans"/>
              </a:rPr>
              <a:t>Confidencial — Uso Interno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6629400"/>
            <a:ext cx="228600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1" i="0">
                <a:solidFill>
                  <a:srgbClr val="0176D3"/>
                </a:solidFill>
                <a:latin typeface="Open Sans"/>
              </a:rPr>
              <a:t>Salesforce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"/>
            <a:ext cx="1124712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600" b="1" i="0">
                <a:solidFill>
                  <a:srgbClr val="25337E"/>
                </a:solidFill>
                <a:latin typeface="Montserrat"/>
              </a:rPr>
              <a:t>El Reto de Davibank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713232"/>
            <a:ext cx="1124712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0" i="1">
                <a:solidFill>
                  <a:srgbClr val="475862"/>
                </a:solidFill>
                <a:latin typeface="Open Sans"/>
              </a:rPr>
              <a:t>Situación actual vs. ambición digital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188720"/>
            <a:ext cx="5577840" cy="4023360"/>
          </a:xfrm>
          <a:prstGeom prst="roundRect">
            <a:avLst>
              <a:gd name="adj" fmla="val 5000"/>
            </a:avLst>
          </a:prstGeom>
          <a:solidFill>
            <a:srgbClr val="F3F3F3"/>
          </a:solidFill>
          <a:ln w="19050">
            <a:solidFill>
              <a:srgbClr val="EC11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325880"/>
            <a:ext cx="530352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800" b="1" i="0">
                <a:solidFill>
                  <a:srgbClr val="BE061B"/>
                </a:solidFill>
                <a:latin typeface="Montserrat"/>
              </a:rPr>
              <a:t>Situación Actual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874519"/>
            <a:ext cx="1371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800" b="1" i="0">
                <a:solidFill>
                  <a:srgbClr val="EC111A"/>
                </a:solidFill>
                <a:latin typeface="Open Sans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1874519"/>
            <a:ext cx="4937760" cy="5486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Open Sans"/>
              </a:rPr>
              <a:t>Alta manual o asistida — proceso tarda 2-5 días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468879"/>
            <a:ext cx="1371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800" b="1" i="0">
                <a:solidFill>
                  <a:srgbClr val="EC111A"/>
                </a:solidFill>
                <a:latin typeface="Open Sans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468879"/>
            <a:ext cx="4937760" cy="5486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Open Sans"/>
              </a:rPr>
              <a:t>CRM Salesforce activo pero sin formulario digital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063239"/>
            <a:ext cx="1371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800" b="1" i="0">
                <a:solidFill>
                  <a:srgbClr val="EC111A"/>
                </a:solidFill>
                <a:latin typeface="Open Sans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3063239"/>
            <a:ext cx="4937760" cy="5486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Open Sans"/>
              </a:rPr>
              <a:t>Sistemas core on-premise desconectados del CRM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657599"/>
            <a:ext cx="1371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800" b="1" i="0">
                <a:solidFill>
                  <a:srgbClr val="EC111A"/>
                </a:solidFill>
                <a:latin typeface="Open Sans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3657599"/>
            <a:ext cx="4937760" cy="5486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Open Sans"/>
              </a:rPr>
              <a:t>Alta tasa de abandono y reproceso documental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251959"/>
            <a:ext cx="1371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800" b="1" i="0">
                <a:solidFill>
                  <a:srgbClr val="EC111A"/>
                </a:solidFill>
                <a:latin typeface="Open Sans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4251959"/>
            <a:ext cx="4937760" cy="5486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Open Sans"/>
              </a:rPr>
              <a:t>Sin trazabilidad automática para SFC y HABEAS DATA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1188720"/>
            <a:ext cx="5577840" cy="4023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1384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80" y="1325880"/>
            <a:ext cx="530352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800" b="1" i="0">
                <a:solidFill>
                  <a:srgbClr val="138468"/>
                </a:solidFill>
                <a:latin typeface="Montserrat"/>
              </a:rPr>
              <a:t>Lo que Davibank quiere lograr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1874519"/>
            <a:ext cx="1371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800" b="1" i="0">
                <a:solidFill>
                  <a:srgbClr val="138468"/>
                </a:solidFill>
                <a:latin typeface="Open Sans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1874519"/>
            <a:ext cx="4937760" cy="5486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Open Sans"/>
              </a:rPr>
              <a:t>Formulario digital embebido en davibank.com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2468879"/>
            <a:ext cx="1371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800" b="1" i="0">
                <a:solidFill>
                  <a:srgbClr val="138468"/>
                </a:solidFill>
                <a:latin typeface="Open Sans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2468879"/>
            <a:ext cx="4937760" cy="5486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Open Sans"/>
              </a:rPr>
              <a:t>Datos directamente en Sales Cloud — sin ETL manual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3063239"/>
            <a:ext cx="1371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800" b="1" i="0">
                <a:solidFill>
                  <a:srgbClr val="138468"/>
                </a:solidFill>
                <a:latin typeface="Open Sans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0" y="3063239"/>
            <a:ext cx="4937760" cy="5486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Open Sans"/>
              </a:rPr>
              <a:t>Integración automática con Motor de Riesgo y Biométrica vía IDMC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3657599"/>
            <a:ext cx="1371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800" b="1" i="0">
                <a:solidFill>
                  <a:srgbClr val="138468"/>
                </a:solidFill>
                <a:latin typeface="Open Sans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75120" y="3657599"/>
            <a:ext cx="4937760" cy="5486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Open Sans"/>
              </a:rPr>
              <a:t>Disponibilidad digital 24/7 + canal físico unificado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4251959"/>
            <a:ext cx="1371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800" b="1" i="0">
                <a:solidFill>
                  <a:srgbClr val="138468"/>
                </a:solidFill>
                <a:latin typeface="Open Sans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75120" y="4251959"/>
            <a:ext cx="4937760" cy="5486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Open Sans"/>
              </a:rPr>
              <a:t>Cumplimiento SFC / HABEAS DATA / SARLAFT automatizado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5349240"/>
            <a:ext cx="3703320" cy="1097280"/>
          </a:xfrm>
          <a:prstGeom prst="roundRect">
            <a:avLst>
              <a:gd name="adj" fmla="val 10000"/>
            </a:avLst>
          </a:prstGeom>
          <a:solidFill>
            <a:srgbClr val="EC11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5394960"/>
            <a:ext cx="370332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Montserrat"/>
              </a:rPr>
              <a:t>2-5 días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5897880"/>
            <a:ext cx="370332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Open Sans"/>
              </a:rPr>
              <a:t>Tiempo actual para completar un alta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251960" y="5349240"/>
            <a:ext cx="3703320" cy="1097280"/>
          </a:xfrm>
          <a:prstGeom prst="roundRect">
            <a:avLst>
              <a:gd name="adj" fmla="val 10000"/>
            </a:avLst>
          </a:prstGeom>
          <a:solidFill>
            <a:srgbClr val="BE06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251960" y="5394960"/>
            <a:ext cx="370332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Montserrat"/>
              </a:rPr>
              <a:t>8+ pasos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51960" y="5897880"/>
            <a:ext cx="370332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Open Sans"/>
              </a:rPr>
              <a:t>Manuales — sin automatización end-to-end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046720" y="5349240"/>
            <a:ext cx="3703320" cy="1097280"/>
          </a:xfrm>
          <a:prstGeom prst="roundRect">
            <a:avLst>
              <a:gd name="adj" fmla="val 10000"/>
            </a:avLst>
          </a:prstGeom>
          <a:solidFill>
            <a:srgbClr val="253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046720" y="5394960"/>
            <a:ext cx="370332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Montserrat"/>
              </a:rPr>
              <a:t>Alto costo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46720" y="5897880"/>
            <a:ext cx="370332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Open Sans"/>
              </a:rPr>
              <a:t>Dependencia total de asesores físicos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C11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629400"/>
            <a:ext cx="182880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 i="0">
                <a:solidFill>
                  <a:srgbClr val="475862"/>
                </a:solidFill>
                <a:latin typeface="Open Sans"/>
              </a:rPr>
              <a:t>4 /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6629400"/>
            <a:ext cx="246888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 i="1">
                <a:solidFill>
                  <a:srgbClr val="475862"/>
                </a:solidFill>
                <a:latin typeface="Open Sans"/>
              </a:rPr>
              <a:t>Confidencial — Uso Interno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6629400"/>
            <a:ext cx="228600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1" i="0">
                <a:solidFill>
                  <a:srgbClr val="0176D3"/>
                </a:solidFill>
                <a:latin typeface="Open Sans"/>
              </a:rPr>
              <a:t>Salesforce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"/>
            <a:ext cx="1124712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600" b="1" i="0">
                <a:solidFill>
                  <a:srgbClr val="25337E"/>
                </a:solidFill>
                <a:latin typeface="Montserrat"/>
              </a:rPr>
              <a:t>Diagrama del Cliente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713232"/>
            <a:ext cx="1124712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0" i="1">
                <a:solidFill>
                  <a:srgbClr val="475862"/>
                </a:solidFill>
                <a:latin typeface="Open Sans"/>
              </a:rPr>
              <a:t>Tres carriles · de canal a activación</a:t>
            </a:r>
          </a:p>
        </p:txBody>
      </p:sp>
      <p:pic>
        <p:nvPicPr>
          <p:cNvPr id="8" name="Picture 7" descr="cliente_swimlan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1247120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C11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629400"/>
            <a:ext cx="182880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 i="0">
                <a:solidFill>
                  <a:srgbClr val="475862"/>
                </a:solidFill>
                <a:latin typeface="Open Sans"/>
              </a:rPr>
              <a:t>5 /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6629400"/>
            <a:ext cx="246888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 i="1">
                <a:solidFill>
                  <a:srgbClr val="475862"/>
                </a:solidFill>
                <a:latin typeface="Open Sans"/>
              </a:rPr>
              <a:t>Confidencial — Uso Interno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6629400"/>
            <a:ext cx="228600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1" i="0">
                <a:solidFill>
                  <a:srgbClr val="0176D3"/>
                </a:solidFill>
                <a:latin typeface="Open Sans"/>
              </a:rPr>
              <a:t>Salesforce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"/>
            <a:ext cx="1124712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600" b="1" i="0">
                <a:solidFill>
                  <a:srgbClr val="25337E"/>
                </a:solidFill>
                <a:latin typeface="Montserrat"/>
              </a:rPr>
              <a:t>Principios de Arquitectura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713232"/>
            <a:ext cx="1124712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0" i="1">
                <a:solidFill>
                  <a:srgbClr val="475862"/>
                </a:solidFill>
                <a:latin typeface="Open Sans"/>
              </a:rPr>
              <a:t>Cuatro decisiones técnicas que sostienen ambas soluciones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188720"/>
            <a:ext cx="5577840" cy="2514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EC11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188720"/>
            <a:ext cx="5577840" cy="164592"/>
          </a:xfrm>
          <a:prstGeom prst="rect">
            <a:avLst/>
          </a:prstGeom>
          <a:solidFill>
            <a:srgbClr val="EC11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417320"/>
            <a:ext cx="512064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500" b="1" i="0">
                <a:solidFill>
                  <a:srgbClr val="EC111A"/>
                </a:solidFill>
                <a:latin typeface="Montserrat"/>
              </a:rPr>
              <a:t>Sales Cloud como Orquestador Central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965960"/>
            <a:ext cx="5120640" cy="11887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Open Sans"/>
              </a:rPr>
              <a:t>Flow Builder orquesta el proceso completo de alta sin código. Cada paso — KYC, scoring, firma, activación — es un elemento del Flow con manejo de errores y reintentos.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200400"/>
            <a:ext cx="512064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 i="1">
                <a:solidFill>
                  <a:srgbClr val="475862"/>
                </a:solidFill>
                <a:latin typeface="Open Sans"/>
              </a:rPr>
              <a:t>Referencia: RBC Wealth Management redujo onboarding de semanas a 24 min usando Salesforce Flow.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188720"/>
            <a:ext cx="5577840" cy="2514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0176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188720"/>
            <a:ext cx="5577840" cy="164592"/>
          </a:xfrm>
          <a:prstGeom prst="rect">
            <a:avLst/>
          </a:prstGeom>
          <a:solidFill>
            <a:srgbClr val="0176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1417320"/>
            <a:ext cx="512064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500" b="1" i="0">
                <a:solidFill>
                  <a:srgbClr val="0176D3"/>
                </a:solidFill>
                <a:latin typeface="Montserrat"/>
              </a:rPr>
              <a:t>Formulario Embebido en davibank.com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1965960"/>
            <a:ext cx="5120640" cy="11887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Open Sans"/>
              </a:rPr>
              <a:t>El cliente nunca sale del dominio bancario. Tres opciones técnicas: Experience Cloud Site (producción) · LWC (control total) · Web-to-Lead (MVP en 1-2 sem).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3200400"/>
            <a:ext cx="512064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 i="1">
                <a:solidFill>
                  <a:srgbClr val="475862"/>
                </a:solidFill>
                <a:latin typeface="Open Sans"/>
              </a:rPr>
              <a:t>Mismo Lead en Sales Cloud independientemente de la opción elegida.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840480"/>
            <a:ext cx="5577840" cy="2514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1384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3840480"/>
            <a:ext cx="5577840" cy="164592"/>
          </a:xfrm>
          <a:prstGeom prst="rect">
            <a:avLst/>
          </a:prstGeom>
          <a:solidFill>
            <a:srgbClr val="1384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4069080"/>
            <a:ext cx="512064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500" b="1" i="0">
                <a:solidFill>
                  <a:srgbClr val="138468"/>
                </a:solidFill>
                <a:latin typeface="Montserrat"/>
              </a:rPr>
              <a:t>Informatica IDMC — Integración sin MuleSoft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617720"/>
            <a:ext cx="5120640" cy="11887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Open Sans"/>
              </a:rPr>
              <a:t>IDMC (YA ACTIVO en Davibank) conecta Sales Cloud con on-prem usando conectores nativos Salesforce y APIs REST. Para llamadas simples, Apex Callouts son suficientes.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852160"/>
            <a:ext cx="512064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 i="1">
                <a:solidFill>
                  <a:srgbClr val="475862"/>
                </a:solidFill>
                <a:latin typeface="Open Sans"/>
              </a:rPr>
              <a:t>Cero herramientas nuevas de integración.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3840480"/>
            <a:ext cx="5577840" cy="2514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2533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17920" y="3840480"/>
            <a:ext cx="5577840" cy="164592"/>
          </a:xfrm>
          <a:prstGeom prst="rect">
            <a:avLst/>
          </a:prstGeom>
          <a:solidFill>
            <a:srgbClr val="253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46520" y="4069080"/>
            <a:ext cx="512064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500" b="1" i="0">
                <a:solidFill>
                  <a:srgbClr val="25337E"/>
                </a:solidFill>
                <a:latin typeface="Montserrat"/>
              </a:rPr>
              <a:t>Diseño Async para Latencia On-Prem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4617720"/>
            <a:ext cx="5120640" cy="11887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Open Sans"/>
              </a:rPr>
              <a:t>Ningún sistema on-prem bloquea la UX. Sales Cloud dispara Platform Event → IDMC procesa en background → webhook actualiza Flow → cliente ve progreso animado.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5852160"/>
            <a:ext cx="512064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 i="1">
                <a:solidFill>
                  <a:srgbClr val="475862"/>
                </a:solidFill>
                <a:latin typeface="Open Sans"/>
              </a:rPr>
              <a:t>La latencia on-prem es invisible para el cliente.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6400800"/>
            <a:ext cx="11247120" cy="201168"/>
          </a:xfrm>
          <a:prstGeom prst="roundRect">
            <a:avLst>
              <a:gd name="adj" fmla="val 40000"/>
            </a:avLst>
          </a:prstGeom>
          <a:solidFill>
            <a:srgbClr val="FFC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6400800"/>
            <a:ext cx="11247120" cy="20116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900" b="1" i="0">
                <a:solidFill>
                  <a:srgbClr val="1E293B"/>
                </a:solidFill>
                <a:latin typeface="Open Sans"/>
              </a:rPr>
              <a:t>Fuera de alcance: CRC + Módulo Retail  |  Sin MuleSoft ni Industries — Sales Cloud puro + IDMC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C11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629400"/>
            <a:ext cx="182880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 i="0">
                <a:solidFill>
                  <a:srgbClr val="475862"/>
                </a:solidFill>
                <a:latin typeface="Open Sans"/>
              </a:rPr>
              <a:t>6 /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6629400"/>
            <a:ext cx="246888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 i="1">
                <a:solidFill>
                  <a:srgbClr val="475862"/>
                </a:solidFill>
                <a:latin typeface="Open Sans"/>
              </a:rPr>
              <a:t>Confidencial — Uso Interno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6629400"/>
            <a:ext cx="228600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1" i="0">
                <a:solidFill>
                  <a:srgbClr val="0176D3"/>
                </a:solidFill>
                <a:latin typeface="Open Sans"/>
              </a:rPr>
              <a:t>Salesforce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"/>
            <a:ext cx="1124712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600" b="1" i="0">
                <a:solidFill>
                  <a:srgbClr val="25337E"/>
                </a:solidFill>
                <a:latin typeface="Montserrat"/>
              </a:rPr>
              <a:t>Solución 1 — Arquitectura Sales Cloud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713232"/>
            <a:ext cx="1124712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0" i="1">
                <a:solidFill>
                  <a:srgbClr val="475862"/>
                </a:solidFill>
                <a:latin typeface="Open Sans"/>
              </a:rPr>
              <a:t>5 capas: Canales · Sales Cloud · IDMC · On-Prem · Data &amp; Notificaciones</a:t>
            </a:r>
          </a:p>
        </p:txBody>
      </p:sp>
      <p:pic>
        <p:nvPicPr>
          <p:cNvPr id="8" name="Picture 7" descr="sol1_arquitectur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1247120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C11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629400"/>
            <a:ext cx="182880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 i="0">
                <a:solidFill>
                  <a:srgbClr val="475862"/>
                </a:solidFill>
                <a:latin typeface="Open Sans"/>
              </a:rPr>
              <a:t>7 /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6629400"/>
            <a:ext cx="246888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 i="1">
                <a:solidFill>
                  <a:srgbClr val="475862"/>
                </a:solidFill>
                <a:latin typeface="Open Sans"/>
              </a:rPr>
              <a:t>Confidencial — Uso Interno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6629400"/>
            <a:ext cx="228600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1" i="0">
                <a:solidFill>
                  <a:srgbClr val="0176D3"/>
                </a:solidFill>
                <a:latin typeface="Open Sans"/>
              </a:rPr>
              <a:t>Salesforce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"/>
            <a:ext cx="1124712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600" b="1" i="0">
                <a:solidFill>
                  <a:srgbClr val="25337E"/>
                </a:solidFill>
                <a:latin typeface="Montserrat"/>
              </a:rPr>
              <a:t>Solución 1 — Journey del Cliente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713232"/>
            <a:ext cx="1124712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0" i="1">
                <a:solidFill>
                  <a:srgbClr val="475862"/>
                </a:solidFill>
                <a:latin typeface="Open Sans"/>
              </a:rPr>
              <a:t>6 pasos · 7 a 15 minutos end-to-end</a:t>
            </a:r>
          </a:p>
        </p:txBody>
      </p:sp>
      <p:pic>
        <p:nvPicPr>
          <p:cNvPr id="8" name="Picture 7" descr="sol1_journe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1247120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C11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629400"/>
            <a:ext cx="182880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 i="0">
                <a:solidFill>
                  <a:srgbClr val="475862"/>
                </a:solidFill>
                <a:latin typeface="Open Sans"/>
              </a:rPr>
              <a:t>8 /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6629400"/>
            <a:ext cx="246888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 i="1">
                <a:solidFill>
                  <a:srgbClr val="475862"/>
                </a:solidFill>
                <a:latin typeface="Open Sans"/>
              </a:rPr>
              <a:t>Confidencial — Uso Interno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6629400"/>
            <a:ext cx="228600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1" i="0">
                <a:solidFill>
                  <a:srgbClr val="0176D3"/>
                </a:solidFill>
                <a:latin typeface="Open Sans"/>
              </a:rPr>
              <a:t>Salesforce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"/>
            <a:ext cx="1124712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600" b="1" i="0">
                <a:solidFill>
                  <a:srgbClr val="25337E"/>
                </a:solidFill>
                <a:latin typeface="Montserrat"/>
              </a:rPr>
              <a:t>Formulario Embebido en davibank.com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713232"/>
            <a:ext cx="1124712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0" i="1">
                <a:solidFill>
                  <a:srgbClr val="475862"/>
                </a:solidFill>
                <a:latin typeface="Open Sans"/>
              </a:rPr>
              <a:t>3 opciones técnicas según velocidad y control</a:t>
            </a:r>
          </a:p>
        </p:txBody>
      </p:sp>
      <p:pic>
        <p:nvPicPr>
          <p:cNvPr id="8" name="Picture 7" descr="formulario_opcion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1247120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C11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629400"/>
            <a:ext cx="182880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 i="0">
                <a:solidFill>
                  <a:srgbClr val="475862"/>
                </a:solidFill>
                <a:latin typeface="Open Sans"/>
              </a:rPr>
              <a:t>9 /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6629400"/>
            <a:ext cx="246888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 i="1">
                <a:solidFill>
                  <a:srgbClr val="475862"/>
                </a:solidFill>
                <a:latin typeface="Open Sans"/>
              </a:rPr>
              <a:t>Confidencial — Uso Interno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6629400"/>
            <a:ext cx="228600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1" i="0">
                <a:solidFill>
                  <a:srgbClr val="0176D3"/>
                </a:solidFill>
                <a:latin typeface="Open Sans"/>
              </a:rPr>
              <a:t>Salesforce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"/>
            <a:ext cx="1124712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600" b="1" i="0">
                <a:solidFill>
                  <a:srgbClr val="25337E"/>
                </a:solidFill>
                <a:latin typeface="Montserrat"/>
              </a:rPr>
              <a:t>Beneficios — Solución 1: Sales Cloud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713232"/>
            <a:ext cx="1124712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0" i="1">
                <a:solidFill>
                  <a:srgbClr val="475862"/>
                </a:solidFill>
                <a:latin typeface="Open Sans"/>
              </a:rPr>
              <a:t>8 ventajas de negocio y técnicas, con referencia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188720"/>
            <a:ext cx="2743200" cy="2468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032D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188720"/>
            <a:ext cx="2743200" cy="109728"/>
          </a:xfrm>
          <a:prstGeom prst="rect">
            <a:avLst/>
          </a:prstGeom>
          <a:solidFill>
            <a:srgbClr val="032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371600"/>
            <a:ext cx="24688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50" b="1" i="0">
                <a:solidFill>
                  <a:srgbClr val="032D60"/>
                </a:solidFill>
                <a:latin typeface="Montserrat"/>
              </a:rPr>
              <a:t>Formulario en dominio del banco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103120"/>
            <a:ext cx="2468880" cy="10972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Open Sans"/>
              </a:rPr>
              <a:t>Cliente permanece en davibank.com — mayor confianza, menor abandono.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291840"/>
            <a:ext cx="246888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50" b="0" i="1">
                <a:solidFill>
                  <a:srgbClr val="475862"/>
                </a:solidFill>
                <a:latin typeface="Open Sans"/>
              </a:rPr>
              <a:t>Mejor práctica Experience Cloud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91840" y="1188720"/>
            <a:ext cx="2743200" cy="2468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0176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91840" y="1188720"/>
            <a:ext cx="2743200" cy="109728"/>
          </a:xfrm>
          <a:prstGeom prst="rect">
            <a:avLst/>
          </a:prstGeom>
          <a:solidFill>
            <a:srgbClr val="0176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29000" y="1371600"/>
            <a:ext cx="24688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50" b="1" i="0">
                <a:solidFill>
                  <a:srgbClr val="0176D3"/>
                </a:solidFill>
                <a:latin typeface="Montserrat"/>
              </a:rPr>
              <a:t>Datos nativos sin ETL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9000" y="2103120"/>
            <a:ext cx="2468880" cy="10972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Open Sans"/>
              </a:rPr>
              <a:t>El Lead se crea en tiempo real en Sales Cloud. Sin middleware de captura.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29000" y="3291840"/>
            <a:ext cx="246888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50" b="0" i="1">
                <a:solidFill>
                  <a:srgbClr val="475862"/>
                </a:solidFill>
                <a:latin typeface="Open Sans"/>
              </a:rPr>
              <a:t>Ponce Bank — 54 sistemas unificados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26480" y="1188720"/>
            <a:ext cx="2743200" cy="2468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EC11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26480" y="1188720"/>
            <a:ext cx="2743200" cy="109728"/>
          </a:xfrm>
          <a:prstGeom prst="rect">
            <a:avLst/>
          </a:prstGeom>
          <a:solidFill>
            <a:srgbClr val="EC11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63640" y="1371600"/>
            <a:ext cx="24688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50" b="1" i="0">
                <a:solidFill>
                  <a:srgbClr val="EC111A"/>
                </a:solidFill>
                <a:latin typeface="Montserrat"/>
              </a:rPr>
              <a:t>Semanas a minutos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2103120"/>
            <a:ext cx="2468880" cy="10972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Open Sans"/>
              </a:rPr>
              <a:t>Salesforce Flow reemplaza proceso manual de 2-5 días. Automatización end-to-end.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63640" y="3291840"/>
            <a:ext cx="246888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50" b="0" i="1">
                <a:solidFill>
                  <a:srgbClr val="475862"/>
                </a:solidFill>
                <a:latin typeface="Open Sans"/>
              </a:rPr>
              <a:t>RBC Wealth: semanas → 24 min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61120" y="1188720"/>
            <a:ext cx="2743200" cy="2468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2533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61120" y="1188720"/>
            <a:ext cx="2743200" cy="109728"/>
          </a:xfrm>
          <a:prstGeom prst="rect">
            <a:avLst/>
          </a:prstGeom>
          <a:solidFill>
            <a:srgbClr val="253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98280" y="1371600"/>
            <a:ext cx="24688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50" b="1" i="0">
                <a:solidFill>
                  <a:srgbClr val="25337E"/>
                </a:solidFill>
                <a:latin typeface="Montserrat"/>
              </a:rPr>
              <a:t>Trazabilidad SFC automática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98280" y="2103120"/>
            <a:ext cx="2468880" cy="10972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Open Sans"/>
              </a:rPr>
              <a:t>Cada paso del onboarding queda auditado. HABEAS DATA registrado en Flow.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98280" y="3291840"/>
            <a:ext cx="246888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50" b="0" i="1">
                <a:solidFill>
                  <a:srgbClr val="475862"/>
                </a:solidFill>
                <a:latin typeface="Open Sans"/>
              </a:rPr>
              <a:t>Cumplimiento Circular SFC 029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3794760"/>
            <a:ext cx="2743200" cy="2468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1384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57200" y="3794760"/>
            <a:ext cx="2743200" cy="109728"/>
          </a:xfrm>
          <a:prstGeom prst="rect">
            <a:avLst/>
          </a:prstGeom>
          <a:solidFill>
            <a:srgbClr val="1384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360" y="3977640"/>
            <a:ext cx="24688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50" b="1" i="0">
                <a:solidFill>
                  <a:srgbClr val="138468"/>
                </a:solidFill>
                <a:latin typeface="Montserrat"/>
              </a:rPr>
              <a:t>Reutiliza inversión existente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4709160"/>
            <a:ext cx="2468880" cy="10972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Open Sans"/>
              </a:rPr>
              <a:t>Sales Cloud Unlimited + IDMC ya activos. Sin MuleSoft, Industries ni FSC.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5897880"/>
            <a:ext cx="246888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50" b="0" i="1">
                <a:solidFill>
                  <a:srgbClr val="475862"/>
                </a:solidFill>
                <a:latin typeface="Open Sans"/>
              </a:rPr>
              <a:t>TCO reducido al mínimo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291840" y="3794760"/>
            <a:ext cx="2743200" cy="2468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0176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291840" y="3794760"/>
            <a:ext cx="2743200" cy="109728"/>
          </a:xfrm>
          <a:prstGeom prst="rect">
            <a:avLst/>
          </a:prstGeom>
          <a:solidFill>
            <a:srgbClr val="0176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429000" y="3977640"/>
            <a:ext cx="24688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50" b="1" i="0">
                <a:solidFill>
                  <a:srgbClr val="0176D3"/>
                </a:solidFill>
                <a:latin typeface="Montserrat"/>
              </a:rPr>
              <a:t>Flow Builder — sin código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429000" y="4709160"/>
            <a:ext cx="2468880" cy="10972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Open Sans"/>
              </a:rPr>
              <a:t>Negocio ajusta el proceso sin desarrollo. Cambios sin tickets de IT.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429000" y="5897880"/>
            <a:ext cx="246888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50" b="0" i="1">
                <a:solidFill>
                  <a:srgbClr val="475862"/>
                </a:solidFill>
                <a:latin typeface="Open Sans"/>
              </a:rPr>
              <a:t>Agilidad operativa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126480" y="3794760"/>
            <a:ext cx="2743200" cy="2468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032D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126480" y="3794760"/>
            <a:ext cx="2743200" cy="109728"/>
          </a:xfrm>
          <a:prstGeom prst="rect">
            <a:avLst/>
          </a:prstGeom>
          <a:solidFill>
            <a:srgbClr val="032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63640" y="3977640"/>
            <a:ext cx="24688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50" b="1" i="0">
                <a:solidFill>
                  <a:srgbClr val="032D60"/>
                </a:solidFill>
                <a:latin typeface="Montserrat"/>
              </a:rPr>
              <a:t>Visibilidad del funnel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63640" y="4709160"/>
            <a:ext cx="2468880" cy="10972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Open Sans"/>
              </a:rPr>
              <a:t>Reports &amp; Dashboards nativos: conversión, tiempo por paso, abandono por etapa.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63640" y="5897880"/>
            <a:ext cx="246888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50" b="0" i="1">
                <a:solidFill>
                  <a:srgbClr val="475862"/>
                </a:solidFill>
                <a:latin typeface="Open Sans"/>
              </a:rPr>
              <a:t>Reports &amp; Dashboards Sales Cloud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961120" y="3794760"/>
            <a:ext cx="2743200" cy="2468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EC11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961120" y="3794760"/>
            <a:ext cx="2743200" cy="109728"/>
          </a:xfrm>
          <a:prstGeom prst="rect">
            <a:avLst/>
          </a:prstGeom>
          <a:solidFill>
            <a:srgbClr val="EC11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098280" y="3977640"/>
            <a:ext cx="24688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50" b="1" i="0">
                <a:solidFill>
                  <a:srgbClr val="EC111A"/>
                </a:solidFill>
                <a:latin typeface="Montserrat"/>
              </a:rPr>
              <a:t>3 opciones de despliegue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98280" y="4709160"/>
            <a:ext cx="2468880" cy="10972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Open Sans"/>
              </a:rPr>
              <a:t>MVP 1-2 sem (Web-to-Lead) o producción robusta (Experience Cloud).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98280" y="5897880"/>
            <a:ext cx="246888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50" b="0" i="1">
                <a:solidFill>
                  <a:srgbClr val="475862"/>
                </a:solidFill>
                <a:latin typeface="Open Sans"/>
              </a:rPr>
              <a:t>Misma arquitectura backend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C11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629400"/>
            <a:ext cx="182880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 i="0">
                <a:solidFill>
                  <a:srgbClr val="475862"/>
                </a:solidFill>
                <a:latin typeface="Open Sans"/>
              </a:rPr>
              <a:t>10 /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6629400"/>
            <a:ext cx="246888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 i="1">
                <a:solidFill>
                  <a:srgbClr val="475862"/>
                </a:solidFill>
                <a:latin typeface="Open Sans"/>
              </a:rPr>
              <a:t>Confidencial — Uso Interno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6629400"/>
            <a:ext cx="228600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1" i="0">
                <a:solidFill>
                  <a:srgbClr val="0176D3"/>
                </a:solidFill>
                <a:latin typeface="Open Sans"/>
              </a:rPr>
              <a:t>Salesforce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"/>
            <a:ext cx="1124712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600" b="1" i="0">
                <a:solidFill>
                  <a:srgbClr val="25337E"/>
                </a:solidFill>
                <a:latin typeface="Montserrat"/>
              </a:rPr>
              <a:t>Latencia On-Prem — Análisis y Mitigación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713232"/>
            <a:ext cx="1124712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0" i="1">
                <a:solidFill>
                  <a:srgbClr val="475862"/>
                </a:solidFill>
                <a:latin typeface="Open Sans"/>
              </a:rPr>
              <a:t>Estrategia async por sistema · cliente nunca espera en pantalla en blanco</a:t>
            </a:r>
          </a:p>
        </p:txBody>
      </p:sp>
      <p:pic>
        <p:nvPicPr>
          <p:cNvPr id="8" name="Picture 7" descr="latencia_barra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6858000" cy="521208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498079" y="1188720"/>
            <a:ext cx="4297680" cy="5212080"/>
          </a:xfrm>
          <a:prstGeom prst="roundRect">
            <a:avLst>
              <a:gd name="adj" fmla="val 4000"/>
            </a:avLst>
          </a:prstGeom>
          <a:solidFill>
            <a:srgbClr val="F3F3F3"/>
          </a:solidFill>
          <a:ln w="12700">
            <a:solidFill>
              <a:srgbClr val="2533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0" y="1280160"/>
            <a:ext cx="4114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 i="0">
                <a:solidFill>
                  <a:srgbClr val="25337E"/>
                </a:solidFill>
                <a:latin typeface="Montserrat"/>
              </a:rPr>
              <a:t>Estrategia de Mitigación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80960" y="1783080"/>
            <a:ext cx="3931920" cy="36576"/>
          </a:xfrm>
          <a:prstGeom prst="rect">
            <a:avLst/>
          </a:prstGeom>
          <a:solidFill>
            <a:srgbClr val="EC11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0" y="1856232"/>
            <a:ext cx="393192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 i="0">
                <a:solidFill>
                  <a:srgbClr val="25337E"/>
                </a:solidFill>
                <a:latin typeface="Montserrat"/>
              </a:rPr>
              <a:t>Motor de Riesgo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0" y="2130552"/>
            <a:ext cx="393192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Open Sans"/>
              </a:rPr>
              <a:t>Flow Pause + Platform Event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80960" y="2560320"/>
            <a:ext cx="3931920" cy="36576"/>
          </a:xfrm>
          <a:prstGeom prst="rect">
            <a:avLst/>
          </a:prstGeom>
          <a:solidFill>
            <a:srgbClr val="EC11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2633472"/>
            <a:ext cx="393192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 i="0">
                <a:solidFill>
                  <a:srgbClr val="25337E"/>
                </a:solidFill>
                <a:latin typeface="Montserrat"/>
              </a:rPr>
              <a:t>Biométrica/KYC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907792"/>
            <a:ext cx="393192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Open Sans"/>
              </a:rPr>
              <a:t>Apex async + fallback manual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80960" y="3337560"/>
            <a:ext cx="3931920" cy="36576"/>
          </a:xfrm>
          <a:prstGeom prst="rect">
            <a:avLst/>
          </a:prstGeom>
          <a:solidFill>
            <a:srgbClr val="EC11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80960" y="3410712"/>
            <a:ext cx="393192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 i="0">
                <a:solidFill>
                  <a:srgbClr val="25337E"/>
                </a:solidFill>
                <a:latin typeface="Montserrat"/>
              </a:rPr>
              <a:t>Gestor Documental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0" y="3685032"/>
            <a:ext cx="393192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Open Sans"/>
              </a:rPr>
              <a:t>Salesforce Files first + IDMC bg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80960" y="4114800"/>
            <a:ext cx="3931920" cy="36576"/>
          </a:xfrm>
          <a:prstGeom prst="rect">
            <a:avLst/>
          </a:prstGeom>
          <a:solidFill>
            <a:srgbClr val="EC11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80960" y="4187952"/>
            <a:ext cx="393192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 i="0">
                <a:solidFill>
                  <a:srgbClr val="25337E"/>
                </a:solidFill>
                <a:latin typeface="Montserrat"/>
              </a:rPr>
              <a:t>Firma Digital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60" y="4462272"/>
            <a:ext cx="393192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Open Sans"/>
              </a:rPr>
              <a:t>DocuSign webhook + Marketing Cloud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680960" y="4892040"/>
            <a:ext cx="3931920" cy="36576"/>
          </a:xfrm>
          <a:prstGeom prst="rect">
            <a:avLst/>
          </a:prstGeom>
          <a:solidFill>
            <a:srgbClr val="EC11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80960" y="4965192"/>
            <a:ext cx="393192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 i="0">
                <a:solidFill>
                  <a:srgbClr val="25337E"/>
                </a:solidFill>
                <a:latin typeface="Montserrat"/>
              </a:rPr>
              <a:t>Cores Negocio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80960" y="5239512"/>
            <a:ext cx="393192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Open Sans"/>
              </a:rPr>
              <a:t>Event-driven post-aprobación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98079" y="5943600"/>
            <a:ext cx="4297680" cy="411480"/>
          </a:xfrm>
          <a:prstGeom prst="roundRect">
            <a:avLst>
              <a:gd name="adj" fmla="val 30000"/>
            </a:avLst>
          </a:prstGeom>
          <a:solidFill>
            <a:srgbClr val="FFC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98079" y="5943600"/>
            <a:ext cx="4297680" cy="4114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100" b="1" i="0">
                <a:solidFill>
                  <a:srgbClr val="1E293B"/>
                </a:solidFill>
                <a:latin typeface="Open Sans"/>
              </a:rPr>
              <a:t>Latencia invisible para el cliente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C11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629400"/>
            <a:ext cx="182880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 i="0">
                <a:solidFill>
                  <a:srgbClr val="475862"/>
                </a:solidFill>
                <a:latin typeface="Open Sans"/>
              </a:rPr>
              <a:t>11 /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6629400"/>
            <a:ext cx="246888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 i="1">
                <a:solidFill>
                  <a:srgbClr val="475862"/>
                </a:solidFill>
                <a:latin typeface="Open Sans"/>
              </a:rPr>
              <a:t>Confidencial — Uso Interno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6629400"/>
            <a:ext cx="228600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1" i="0">
                <a:solidFill>
                  <a:srgbClr val="0176D3"/>
                </a:solidFill>
                <a:latin typeface="Open Sans"/>
              </a:rPr>
              <a:t>Salesforce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"/>
            <a:ext cx="1124712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600" b="1" i="0">
                <a:solidFill>
                  <a:srgbClr val="25337E"/>
                </a:solidFill>
                <a:latin typeface="Montserrat"/>
              </a:rPr>
              <a:t>Qué es Agentforce sobre Sales Cloud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713232"/>
            <a:ext cx="1124712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0" i="1">
                <a:solidFill>
                  <a:srgbClr val="475862"/>
                </a:solidFill>
                <a:latin typeface="Open Sans"/>
              </a:rPr>
              <a:t>Agente autónomo desplegado sobre Sales Cloud Unlimited — sin FSC, sin Industries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0" y="1280160"/>
            <a:ext cx="3931920" cy="2286000"/>
          </a:xfrm>
          <a:prstGeom prst="roundRect">
            <a:avLst>
              <a:gd name="adj" fmla="val 15000"/>
            </a:avLst>
          </a:prstGeom>
          <a:solidFill>
            <a:srgbClr val="EC11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0" y="1463040"/>
            <a:ext cx="3931920" cy="5486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Montserrat"/>
              </a:rPr>
              <a:t>AGENTFORCE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2103120"/>
            <a:ext cx="393192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800" b="1" i="0">
                <a:solidFill>
                  <a:srgbClr val="FFC300"/>
                </a:solidFill>
                <a:latin typeface="Montserrat"/>
              </a:rPr>
              <a:t>Service Agent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2651760"/>
            <a:ext cx="3931920" cy="7315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400" b="0" i="1">
                <a:solidFill>
                  <a:srgbClr val="FFFFFF"/>
                </a:solidFill>
                <a:latin typeface="Open Sans"/>
              </a:rPr>
              <a:t>sobre Sales Cloud Unlimited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1280160"/>
            <a:ext cx="365760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0176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1417320"/>
            <a:ext cx="329184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500" b="1" i="0">
                <a:solidFill>
                  <a:srgbClr val="0176D3"/>
                </a:solidFill>
                <a:latin typeface="Montserrat"/>
              </a:rPr>
              <a:t>Entiende contexto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1874520"/>
            <a:ext cx="329184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Open Sans"/>
              </a:rPr>
              <a:t>Lee Lead, Account, Opportunity del CRM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280160"/>
            <a:ext cx="365760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0176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1417320"/>
            <a:ext cx="329184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500" b="1" i="0">
                <a:solidFill>
                  <a:srgbClr val="0176D3"/>
                </a:solidFill>
                <a:latin typeface="Montserrat"/>
              </a:rPr>
              <a:t>Actúa autónomamente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1874520"/>
            <a:ext cx="329184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Open Sans"/>
              </a:rPr>
              <a:t>Crea y actualiza registros en Sales Cloud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2560320"/>
            <a:ext cx="365760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1384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2697480"/>
            <a:ext cx="329184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500" b="1" i="0">
                <a:solidFill>
                  <a:srgbClr val="138468"/>
                </a:solidFill>
                <a:latin typeface="Montserrat"/>
              </a:rPr>
              <a:t>Escala al asesor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3154680"/>
            <a:ext cx="329184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Open Sans"/>
              </a:rPr>
              <a:t>Solo en excepciones definidas (HITL)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20" y="2560320"/>
            <a:ext cx="365760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1384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0" y="2697480"/>
            <a:ext cx="329184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500" b="1" i="0">
                <a:solidFill>
                  <a:srgbClr val="138468"/>
                </a:solidFill>
                <a:latin typeface="Montserrat"/>
              </a:rPr>
              <a:t>24/7 sin costo extra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3154680"/>
            <a:ext cx="329184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Open Sans"/>
              </a:rPr>
              <a:t>Maneja N conversaciones simultáneas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3840480"/>
            <a:ext cx="11247120" cy="502920"/>
          </a:xfrm>
          <a:prstGeom prst="roundRect">
            <a:avLst>
              <a:gd name="adj" fmla="val 10000"/>
            </a:avLst>
          </a:prstGeom>
          <a:solidFill>
            <a:srgbClr val="253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3840480"/>
            <a:ext cx="11247120" cy="5029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Open Sans"/>
              </a:rPr>
              <a:t>Despliegue sobre Sales Cloud Unlimited · objetos nativos · misma integración IDMC que Solución 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4572000"/>
            <a:ext cx="2103120" cy="365760"/>
          </a:xfrm>
          <a:prstGeom prst="rect">
            <a:avLst/>
          </a:prstGeom>
          <a:solidFill>
            <a:srgbClr val="253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4572000"/>
            <a:ext cx="2103120" cy="36576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ontserrat"/>
              </a:rPr>
              <a:t>Dimensión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560320" y="4572000"/>
            <a:ext cx="2560320" cy="365760"/>
          </a:xfrm>
          <a:prstGeom prst="rect">
            <a:avLst/>
          </a:prstGeom>
          <a:solidFill>
            <a:srgbClr val="253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560320" y="4572000"/>
            <a:ext cx="2560320" cy="36576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ontserrat"/>
              </a:rPr>
              <a:t>Proceso Actual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120640" y="4572000"/>
            <a:ext cx="2560320" cy="365760"/>
          </a:xfrm>
          <a:prstGeom prst="rect">
            <a:avLst/>
          </a:prstGeom>
          <a:solidFill>
            <a:srgbClr val="253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120640" y="4572000"/>
            <a:ext cx="2560320" cy="36576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ontserrat"/>
              </a:rPr>
              <a:t>Solución 1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680960" y="4572000"/>
            <a:ext cx="2560320" cy="365760"/>
          </a:xfrm>
          <a:prstGeom prst="rect">
            <a:avLst/>
          </a:prstGeom>
          <a:solidFill>
            <a:srgbClr val="253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680960" y="4572000"/>
            <a:ext cx="2560320" cy="36576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ontserrat"/>
              </a:rPr>
              <a:t>Solución 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4937760"/>
            <a:ext cx="21031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4937760"/>
            <a:ext cx="2103120" cy="36576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50" b="1" i="0">
                <a:solidFill>
                  <a:srgbClr val="1E293B"/>
                </a:solidFill>
                <a:latin typeface="Open Sans"/>
              </a:rPr>
              <a:t>Tiempo de alta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560320" y="4937760"/>
            <a:ext cx="25603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560320" y="4937760"/>
            <a:ext cx="2560320" cy="36576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50" b="0" i="0">
                <a:solidFill>
                  <a:srgbClr val="1E293B"/>
                </a:solidFill>
                <a:latin typeface="Open Sans"/>
              </a:rPr>
              <a:t>2-5 días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120640" y="4937760"/>
            <a:ext cx="25603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120640" y="4937760"/>
            <a:ext cx="2560320" cy="36576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50" b="0" i="0">
                <a:solidFill>
                  <a:srgbClr val="1E293B"/>
                </a:solidFill>
                <a:latin typeface="Open Sans"/>
              </a:rPr>
              <a:t>15-20 min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680960" y="4937760"/>
            <a:ext cx="25603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680960" y="4937760"/>
            <a:ext cx="2560320" cy="36576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50" b="1" i="0">
                <a:solidFill>
                  <a:srgbClr val="EC111A"/>
                </a:solidFill>
                <a:latin typeface="Open Sans"/>
              </a:rPr>
              <a:t>8-12 min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" y="5303520"/>
            <a:ext cx="2103120" cy="365760"/>
          </a:xfrm>
          <a:prstGeom prst="rect">
            <a:avLst/>
          </a:prstGeom>
          <a:solidFill>
            <a:srgbClr val="F3F3F3"/>
          </a:solidFill>
          <a:ln w="635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" y="5303520"/>
            <a:ext cx="2103120" cy="36576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50" b="1" i="0">
                <a:solidFill>
                  <a:srgbClr val="1E293B"/>
                </a:solidFill>
                <a:latin typeface="Open Sans"/>
              </a:rPr>
              <a:t>Disponibilidad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560320" y="5303520"/>
            <a:ext cx="2560320" cy="365760"/>
          </a:xfrm>
          <a:prstGeom prst="rect">
            <a:avLst/>
          </a:prstGeom>
          <a:solidFill>
            <a:srgbClr val="F3F3F3"/>
          </a:solidFill>
          <a:ln w="635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560320" y="5303520"/>
            <a:ext cx="2560320" cy="36576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50" b="0" i="0">
                <a:solidFill>
                  <a:srgbClr val="1E293B"/>
                </a:solidFill>
                <a:latin typeface="Open Sans"/>
              </a:rPr>
              <a:t>Horario oficina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120640" y="5303520"/>
            <a:ext cx="2560320" cy="365760"/>
          </a:xfrm>
          <a:prstGeom prst="rect">
            <a:avLst/>
          </a:prstGeom>
          <a:solidFill>
            <a:srgbClr val="F3F3F3"/>
          </a:solidFill>
          <a:ln w="635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120640" y="5303520"/>
            <a:ext cx="2560320" cy="36576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50" b="0" i="0">
                <a:solidFill>
                  <a:srgbClr val="1E293B"/>
                </a:solidFill>
                <a:latin typeface="Open Sans"/>
              </a:rPr>
              <a:t>24/7 digital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680960" y="5303520"/>
            <a:ext cx="2560320" cy="365760"/>
          </a:xfrm>
          <a:prstGeom prst="rect">
            <a:avLst/>
          </a:prstGeom>
          <a:solidFill>
            <a:srgbClr val="F3F3F3"/>
          </a:solidFill>
          <a:ln w="635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680960" y="5303520"/>
            <a:ext cx="2560320" cy="36576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50" b="1" i="0">
                <a:solidFill>
                  <a:srgbClr val="EC111A"/>
                </a:solidFill>
                <a:latin typeface="Open Sans"/>
              </a:rPr>
              <a:t>24/7 autónomo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57200" y="5669280"/>
            <a:ext cx="21031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57200" y="5669280"/>
            <a:ext cx="2103120" cy="36576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50" b="1" i="0">
                <a:solidFill>
                  <a:srgbClr val="1E293B"/>
                </a:solidFill>
                <a:latin typeface="Open Sans"/>
              </a:rPr>
              <a:t>Intervención humana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560320" y="5669280"/>
            <a:ext cx="25603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560320" y="5669280"/>
            <a:ext cx="2560320" cy="36576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50" b="0" i="0">
                <a:solidFill>
                  <a:srgbClr val="1E293B"/>
                </a:solidFill>
                <a:latin typeface="Open Sans"/>
              </a:rPr>
              <a:t>Todo manual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120640" y="5669280"/>
            <a:ext cx="25603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120640" y="5669280"/>
            <a:ext cx="2560320" cy="36576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50" b="0" i="0">
                <a:solidFill>
                  <a:srgbClr val="1E293B"/>
                </a:solidFill>
                <a:latin typeface="Open Sans"/>
              </a:rPr>
              <a:t>Validaciones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680960" y="5669280"/>
            <a:ext cx="25603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680960" y="5669280"/>
            <a:ext cx="2560320" cy="36576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50" b="1" i="0">
                <a:solidFill>
                  <a:srgbClr val="EC111A"/>
                </a:solidFill>
                <a:latin typeface="Open Sans"/>
              </a:rPr>
              <a:t>Excepciones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57200" y="6035040"/>
            <a:ext cx="2103120" cy="365760"/>
          </a:xfrm>
          <a:prstGeom prst="rect">
            <a:avLst/>
          </a:prstGeom>
          <a:solidFill>
            <a:srgbClr val="F3F3F3"/>
          </a:solidFill>
          <a:ln w="635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57200" y="6035040"/>
            <a:ext cx="2103120" cy="36576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50" b="1" i="0">
                <a:solidFill>
                  <a:srgbClr val="1E293B"/>
                </a:solidFill>
                <a:latin typeface="Open Sans"/>
              </a:rPr>
              <a:t>Canales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560320" y="6035040"/>
            <a:ext cx="2560320" cy="365760"/>
          </a:xfrm>
          <a:prstGeom prst="rect">
            <a:avLst/>
          </a:prstGeom>
          <a:solidFill>
            <a:srgbClr val="F3F3F3"/>
          </a:solidFill>
          <a:ln w="635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560320" y="6035040"/>
            <a:ext cx="2560320" cy="36576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50" b="0" i="0">
                <a:solidFill>
                  <a:srgbClr val="1E293B"/>
                </a:solidFill>
                <a:latin typeface="Open Sans"/>
              </a:rPr>
              <a:t>Físico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120640" y="6035040"/>
            <a:ext cx="2560320" cy="365760"/>
          </a:xfrm>
          <a:prstGeom prst="rect">
            <a:avLst/>
          </a:prstGeom>
          <a:solidFill>
            <a:srgbClr val="F3F3F3"/>
          </a:solidFill>
          <a:ln w="635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120640" y="6035040"/>
            <a:ext cx="2560320" cy="36576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50" b="0" i="0">
                <a:solidFill>
                  <a:srgbClr val="1E293B"/>
                </a:solidFill>
                <a:latin typeface="Open Sans"/>
              </a:rPr>
              <a:t>Web + Físico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680960" y="6035040"/>
            <a:ext cx="2560320" cy="365760"/>
          </a:xfrm>
          <a:prstGeom prst="rect">
            <a:avLst/>
          </a:prstGeom>
          <a:solidFill>
            <a:srgbClr val="F3F3F3"/>
          </a:solidFill>
          <a:ln w="635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680960" y="6035040"/>
            <a:ext cx="2560320" cy="36576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50" b="1" i="0">
                <a:solidFill>
                  <a:srgbClr val="EC111A"/>
                </a:solidFill>
                <a:latin typeface="Open Sans"/>
              </a:rPr>
              <a:t>Web/WhatsApp/SMS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C11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629400"/>
            <a:ext cx="182880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 i="0">
                <a:solidFill>
                  <a:srgbClr val="475862"/>
                </a:solidFill>
                <a:latin typeface="Open Sans"/>
              </a:rPr>
              <a:t>12 /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6629400"/>
            <a:ext cx="246888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 i="1">
                <a:solidFill>
                  <a:srgbClr val="475862"/>
                </a:solidFill>
                <a:latin typeface="Open Sans"/>
              </a:rPr>
              <a:t>Confidencial — Uso Interno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6629400"/>
            <a:ext cx="228600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1" i="0">
                <a:solidFill>
                  <a:srgbClr val="0176D3"/>
                </a:solidFill>
                <a:latin typeface="Open Sans"/>
              </a:rPr>
              <a:t>Salesforce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"/>
            <a:ext cx="1124712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600" b="1" i="0">
                <a:solidFill>
                  <a:srgbClr val="25337E"/>
                </a:solidFill>
                <a:latin typeface="Montserrat"/>
              </a:rPr>
              <a:t>Solución 2 — Arquitectura Agentforce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713232"/>
            <a:ext cx="1124712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0" i="1">
                <a:solidFill>
                  <a:srgbClr val="475862"/>
                </a:solidFill>
                <a:latin typeface="Open Sans"/>
              </a:rPr>
              <a:t>Hub-and-spoke · 5 Topics · Sales Cloud como base de datos</a:t>
            </a:r>
          </a:p>
        </p:txBody>
      </p:sp>
      <p:pic>
        <p:nvPicPr>
          <p:cNvPr id="8" name="Picture 7" descr="sol2_agentforce_hub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1247120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C11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629400"/>
            <a:ext cx="182880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 i="0">
                <a:solidFill>
                  <a:srgbClr val="475862"/>
                </a:solidFill>
                <a:latin typeface="Open Sans"/>
              </a:rPr>
              <a:t>13 /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6629400"/>
            <a:ext cx="246888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 i="1">
                <a:solidFill>
                  <a:srgbClr val="475862"/>
                </a:solidFill>
                <a:latin typeface="Open Sans"/>
              </a:rPr>
              <a:t>Confidencial — Uso Interno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6629400"/>
            <a:ext cx="228600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1" i="0">
                <a:solidFill>
                  <a:srgbClr val="0176D3"/>
                </a:solidFill>
                <a:latin typeface="Open Sans"/>
              </a:rPr>
              <a:t>Salesforce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"/>
            <a:ext cx="1124712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600" b="1" i="0">
                <a:solidFill>
                  <a:srgbClr val="25337E"/>
                </a:solidFill>
                <a:latin typeface="Montserrat"/>
              </a:rPr>
              <a:t>Solución 2 — Journey Conversacional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713232"/>
            <a:ext cx="1124712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0" i="1">
                <a:solidFill>
                  <a:srgbClr val="475862"/>
                </a:solidFill>
                <a:latin typeface="Open Sans"/>
              </a:rPr>
              <a:t>7 pasos · agente guía al cliente en lenguaje natural</a:t>
            </a:r>
          </a:p>
        </p:txBody>
      </p:sp>
      <p:pic>
        <p:nvPicPr>
          <p:cNvPr id="8" name="Picture 7" descr="sol2_journe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1247120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C11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629400"/>
            <a:ext cx="182880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 i="0">
                <a:solidFill>
                  <a:srgbClr val="475862"/>
                </a:solidFill>
                <a:latin typeface="Open Sans"/>
              </a:rPr>
              <a:t>14 /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6629400"/>
            <a:ext cx="246888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 i="1">
                <a:solidFill>
                  <a:srgbClr val="475862"/>
                </a:solidFill>
                <a:latin typeface="Open Sans"/>
              </a:rPr>
              <a:t>Confidencial — Uso Interno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6629400"/>
            <a:ext cx="228600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1" i="0">
                <a:solidFill>
                  <a:srgbClr val="0176D3"/>
                </a:solidFill>
                <a:latin typeface="Open Sans"/>
              </a:rPr>
              <a:t>Salesforce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"/>
            <a:ext cx="1124712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600" b="1" i="0">
                <a:solidFill>
                  <a:srgbClr val="25337E"/>
                </a:solidFill>
                <a:latin typeface="Montserrat"/>
              </a:rPr>
              <a:t>Beneficios — Solución 2: Agentforce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713232"/>
            <a:ext cx="1124712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0" i="1">
                <a:solidFill>
                  <a:srgbClr val="475862"/>
                </a:solidFill>
                <a:latin typeface="Open Sans"/>
              </a:rPr>
              <a:t>Operacionales y estratégicos · con métrica y fuente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188720"/>
            <a:ext cx="5577840" cy="5212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EC11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188720"/>
            <a:ext cx="5577840" cy="365760"/>
          </a:xfrm>
          <a:prstGeom prst="rect">
            <a:avLst/>
          </a:prstGeom>
          <a:solidFill>
            <a:srgbClr val="EC11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188720"/>
            <a:ext cx="5577840" cy="36576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ontserrat"/>
              </a:rPr>
              <a:t>Beneficios Operacionales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691640"/>
            <a:ext cx="137160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400" b="1" i="0">
                <a:solidFill>
                  <a:srgbClr val="EC111A"/>
                </a:solidFill>
                <a:latin typeface="Montserrat"/>
              </a:rPr>
              <a:t>-65%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20" y="1691640"/>
            <a:ext cx="3749039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 i="0">
                <a:solidFill>
                  <a:srgbClr val="25337E"/>
                </a:solidFill>
                <a:latin typeface="Montserrat"/>
              </a:rPr>
              <a:t>Tiempo de onboarding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03120" y="2057400"/>
            <a:ext cx="3749039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Open Sans"/>
              </a:rPr>
              <a:t>De 2-5 días a 8-15 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20" y="2423160"/>
            <a:ext cx="3749039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 i="1">
                <a:solidFill>
                  <a:srgbClr val="475862"/>
                </a:solidFill>
                <a:latin typeface="Open Sans"/>
              </a:rPr>
              <a:t>Forrester Digital Onboarding ROI 2024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834640"/>
            <a:ext cx="137160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400" b="1" i="0">
                <a:solidFill>
                  <a:srgbClr val="EC111A"/>
                </a:solidFill>
                <a:latin typeface="Montserrat"/>
              </a:rPr>
              <a:t>24/7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03120" y="2834640"/>
            <a:ext cx="3749039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 i="0">
                <a:solidFill>
                  <a:srgbClr val="25337E"/>
                </a:solidFill>
                <a:latin typeface="Montserrat"/>
              </a:rPr>
              <a:t>Sin dependencia horario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20" y="3200400"/>
            <a:ext cx="3749039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Open Sans"/>
              </a:rPr>
              <a:t>Picos sin contratar personal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03120" y="3566160"/>
            <a:ext cx="3749039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 i="1">
                <a:solidFill>
                  <a:srgbClr val="475862"/>
                </a:solidFill>
                <a:latin typeface="Open Sans"/>
              </a:rPr>
              <a:t>Agentforce — continua sin costo extra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977640"/>
            <a:ext cx="137160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400" b="1" i="0">
                <a:solidFill>
                  <a:srgbClr val="EC111A"/>
                </a:solidFill>
                <a:latin typeface="Montserrat"/>
              </a:rPr>
              <a:t>-40%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03120" y="3977640"/>
            <a:ext cx="3749039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 i="0">
                <a:solidFill>
                  <a:srgbClr val="25337E"/>
                </a:solidFill>
                <a:latin typeface="Montserrat"/>
              </a:rPr>
              <a:t>Abandono del formulario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03120" y="4343400"/>
            <a:ext cx="3749039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Open Sans"/>
              </a:rPr>
              <a:t>Agente detecta intención de salida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03120" y="4709160"/>
            <a:ext cx="3749039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 i="1">
                <a:solidFill>
                  <a:srgbClr val="475862"/>
                </a:solidFill>
                <a:latin typeface="Open Sans"/>
              </a:rPr>
              <a:t>Benchmark conv. AI onboarding 2024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5120640"/>
            <a:ext cx="137160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400" b="1" i="0">
                <a:solidFill>
                  <a:srgbClr val="EC111A"/>
                </a:solidFill>
                <a:latin typeface="Montserrat"/>
              </a:rPr>
              <a:t>100%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03120" y="5120640"/>
            <a:ext cx="3749039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 i="0">
                <a:solidFill>
                  <a:srgbClr val="25337E"/>
                </a:solidFill>
                <a:latin typeface="Montserrat"/>
              </a:rPr>
              <a:t>Trazabilidad SFC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03120" y="5486400"/>
            <a:ext cx="3749039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Open Sans"/>
              </a:rPr>
              <a:t>HABEAS DATA + SARLAFT automático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03120" y="5852160"/>
            <a:ext cx="3749039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 i="1">
                <a:solidFill>
                  <a:srgbClr val="475862"/>
                </a:solidFill>
                <a:latin typeface="Open Sans"/>
              </a:rPr>
              <a:t>Cumplimiento auditado por sesión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72200" y="1188720"/>
            <a:ext cx="5577840" cy="5212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2533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72200" y="1188720"/>
            <a:ext cx="5577840" cy="365760"/>
          </a:xfrm>
          <a:prstGeom prst="rect">
            <a:avLst/>
          </a:prstGeom>
          <a:solidFill>
            <a:srgbClr val="253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72200" y="1188720"/>
            <a:ext cx="5577840" cy="36576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ontserrat"/>
              </a:rPr>
              <a:t>Beneficios Estratégicos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55080" y="1691640"/>
            <a:ext cx="137160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200" b="1" i="0">
                <a:solidFill>
                  <a:srgbClr val="25337E"/>
                </a:solidFill>
                <a:latin typeface="Montserrat"/>
              </a:rPr>
              <a:t>Escala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18120" y="1691640"/>
            <a:ext cx="3749039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 i="0">
                <a:solidFill>
                  <a:srgbClr val="25337E"/>
                </a:solidFill>
                <a:latin typeface="Montserrat"/>
              </a:rPr>
              <a:t>Sin contratar personal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18120" y="2057400"/>
            <a:ext cx="3749039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Open Sans"/>
              </a:rPr>
              <a:t>N conversaciones simultáneas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18120" y="2423160"/>
            <a:ext cx="3749039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 i="1">
                <a:solidFill>
                  <a:srgbClr val="475862"/>
                </a:solidFill>
                <a:latin typeface="Open Sans"/>
              </a:rPr>
              <a:t>Agentforce — autonomous AI 2025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55080" y="2834640"/>
            <a:ext cx="137160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200" b="1" i="0">
                <a:solidFill>
                  <a:srgbClr val="25337E"/>
                </a:solidFill>
                <a:latin typeface="Montserrat"/>
              </a:rPr>
              <a:t>IDP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18120" y="2834640"/>
            <a:ext cx="3749039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 i="0">
                <a:solidFill>
                  <a:srgbClr val="25337E"/>
                </a:solidFill>
                <a:latin typeface="Montserrat"/>
              </a:rPr>
              <a:t>Docs en segundos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18120" y="3200400"/>
            <a:ext cx="3749039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Open Sans"/>
              </a:rPr>
              <a:t>Einstein IDP extrae cédula/contratos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818120" y="3566160"/>
            <a:ext cx="3749039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 i="1">
                <a:solidFill>
                  <a:srgbClr val="475862"/>
                </a:solidFill>
                <a:latin typeface="Open Sans"/>
              </a:rPr>
              <a:t>Salesforce IDP benchmarks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55080" y="3977640"/>
            <a:ext cx="137160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200" b="1" i="0">
                <a:solidFill>
                  <a:srgbClr val="25337E"/>
                </a:solidFill>
                <a:latin typeface="Montserrat"/>
              </a:rPr>
              <a:t>NBA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18120" y="3977640"/>
            <a:ext cx="3749039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 i="0">
                <a:solidFill>
                  <a:srgbClr val="25337E"/>
                </a:solidFill>
                <a:latin typeface="Montserrat"/>
              </a:rPr>
              <a:t>Next Best Action post-alta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818120" y="4343400"/>
            <a:ext cx="3749039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Open Sans"/>
              </a:rPr>
              <a:t>Data Cloud calcula propensión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818120" y="4709160"/>
            <a:ext cx="3749039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 i="1">
                <a:solidFill>
                  <a:srgbClr val="475862"/>
                </a:solidFill>
                <a:latin typeface="Open Sans"/>
              </a:rPr>
              <a:t>RBC Wealth — Data 360 + NBA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55080" y="5120640"/>
            <a:ext cx="137160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200" b="1" i="0">
                <a:solidFill>
                  <a:srgbClr val="25337E"/>
                </a:solidFill>
                <a:latin typeface="Montserrat"/>
              </a:rPr>
              <a:t>Multi-canal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818120" y="5120640"/>
            <a:ext cx="3749039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 i="0">
                <a:solidFill>
                  <a:srgbClr val="25337E"/>
                </a:solidFill>
                <a:latin typeface="Montserrat"/>
              </a:rPr>
              <a:t>Un agente, varios canales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818120" y="5486400"/>
            <a:ext cx="3749039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Open Sans"/>
              </a:rPr>
              <a:t>Web · WhatsApp · SMS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818120" y="5852160"/>
            <a:ext cx="3749039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 i="1">
                <a:solidFill>
                  <a:srgbClr val="475862"/>
                </a:solidFill>
                <a:latin typeface="Open Sans"/>
              </a:rPr>
              <a:t>Mismo Sales Cloud en todos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C11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629400"/>
            <a:ext cx="182880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 i="0">
                <a:solidFill>
                  <a:srgbClr val="475862"/>
                </a:solidFill>
                <a:latin typeface="Open Sans"/>
              </a:rPr>
              <a:t>15 /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6629400"/>
            <a:ext cx="246888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 i="1">
                <a:solidFill>
                  <a:srgbClr val="475862"/>
                </a:solidFill>
                <a:latin typeface="Open Sans"/>
              </a:rPr>
              <a:t>Confidencial — Uso Interno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6629400"/>
            <a:ext cx="228600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1" i="0">
                <a:solidFill>
                  <a:srgbClr val="0176D3"/>
                </a:solidFill>
                <a:latin typeface="Open Sans"/>
              </a:rPr>
              <a:t>Salesforce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"/>
            <a:ext cx="1124712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600" b="1" i="0">
                <a:solidFill>
                  <a:srgbClr val="25337E"/>
                </a:solidFill>
                <a:latin typeface="Montserrat"/>
              </a:rPr>
              <a:t>Topics y Capacidades del Agente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713232"/>
            <a:ext cx="1124712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0" i="1">
                <a:solidFill>
                  <a:srgbClr val="475862"/>
                </a:solidFill>
                <a:latin typeface="Open Sans"/>
              </a:rPr>
              <a:t>5 topics · modo autónomo / HITL · guardrails activos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88720"/>
            <a:ext cx="2011680" cy="457200"/>
          </a:xfrm>
          <a:prstGeom prst="rect">
            <a:avLst/>
          </a:prstGeom>
          <a:solidFill>
            <a:srgbClr val="EC11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188720"/>
            <a:ext cx="2011680" cy="4572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Montserrat"/>
              </a:rPr>
              <a:t>Topic</a:t>
            </a:r>
          </a:p>
        </p:txBody>
      </p:sp>
      <p:sp>
        <p:nvSpPr>
          <p:cNvPr id="10" name="Rectangle 9"/>
          <p:cNvSpPr/>
          <p:nvPr/>
        </p:nvSpPr>
        <p:spPr>
          <a:xfrm>
            <a:off x="2468880" y="1188720"/>
            <a:ext cx="1280160" cy="457200"/>
          </a:xfrm>
          <a:prstGeom prst="rect">
            <a:avLst/>
          </a:prstGeom>
          <a:solidFill>
            <a:srgbClr val="EC11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68880" y="1188720"/>
            <a:ext cx="1280160" cy="4572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Montserrat"/>
              </a:rPr>
              <a:t>Modo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749040" y="1188720"/>
            <a:ext cx="3474720" cy="457200"/>
          </a:xfrm>
          <a:prstGeom prst="rect">
            <a:avLst/>
          </a:prstGeom>
          <a:solidFill>
            <a:srgbClr val="EC11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49040" y="1188720"/>
            <a:ext cx="3474720" cy="4572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Montserrat"/>
              </a:rPr>
              <a:t>Acciones Clave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223760" y="1188720"/>
            <a:ext cx="2377440" cy="457200"/>
          </a:xfrm>
          <a:prstGeom prst="rect">
            <a:avLst/>
          </a:prstGeom>
          <a:solidFill>
            <a:srgbClr val="EC11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23760" y="1188720"/>
            <a:ext cx="2377440" cy="4572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Montserrat"/>
              </a:rPr>
              <a:t>Escalamiento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601200" y="1188720"/>
            <a:ext cx="2103120" cy="457200"/>
          </a:xfrm>
          <a:prstGeom prst="rect">
            <a:avLst/>
          </a:prstGeom>
          <a:solidFill>
            <a:srgbClr val="EC11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0" y="1188720"/>
            <a:ext cx="2103120" cy="4572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Montserrat"/>
              </a:rPr>
              <a:t>Guardrails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1645920"/>
            <a:ext cx="201168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1645920"/>
            <a:ext cx="1920240" cy="7772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1" i="0">
                <a:solidFill>
                  <a:srgbClr val="25337E"/>
                </a:solidFill>
                <a:latin typeface="Open Sans"/>
              </a:rPr>
              <a:t>Captura y Validación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468880" y="1645920"/>
            <a:ext cx="128016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14600" y="1645920"/>
            <a:ext cx="1188720" cy="7772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1" i="0">
                <a:solidFill>
                  <a:srgbClr val="138468"/>
                </a:solidFill>
                <a:latin typeface="Open Sans"/>
              </a:rPr>
              <a:t>Autónomo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749040" y="1645920"/>
            <a:ext cx="347472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794760" y="1645920"/>
            <a:ext cx="3383280" cy="7772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0" i="0">
                <a:solidFill>
                  <a:srgbClr val="1E293B"/>
                </a:solidFill>
                <a:latin typeface="Open Sans"/>
              </a:rPr>
              <a:t>Solicitar datos, validar cédula, crear Lead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223760" y="1645920"/>
            <a:ext cx="237744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269480" y="1645920"/>
            <a:ext cx="2286000" cy="7772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0" i="0">
                <a:solidFill>
                  <a:srgbClr val="1E293B"/>
                </a:solidFill>
                <a:latin typeface="Open Sans"/>
              </a:rPr>
              <a:t>Si formulario incompleto 3x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601200" y="1645920"/>
            <a:ext cx="210312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46920" y="1645920"/>
            <a:ext cx="2011680" cy="7772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0" i="0">
                <a:solidFill>
                  <a:srgbClr val="1E293B"/>
                </a:solidFill>
                <a:latin typeface="Open Sans"/>
              </a:rPr>
              <a:t>Solo productos activos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2423160"/>
            <a:ext cx="2011680" cy="777240"/>
          </a:xfrm>
          <a:prstGeom prst="rect">
            <a:avLst/>
          </a:prstGeom>
          <a:solidFill>
            <a:srgbClr val="F3F3F3"/>
          </a:solidFill>
          <a:ln w="635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" y="2423160"/>
            <a:ext cx="1920240" cy="7772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1" i="0">
                <a:solidFill>
                  <a:srgbClr val="25337E"/>
                </a:solidFill>
                <a:latin typeface="Open Sans"/>
              </a:rPr>
              <a:t>Evaluación Crediticia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468880" y="2423160"/>
            <a:ext cx="1280160" cy="777240"/>
          </a:xfrm>
          <a:prstGeom prst="rect">
            <a:avLst/>
          </a:prstGeom>
          <a:solidFill>
            <a:srgbClr val="F3F3F3"/>
          </a:solidFill>
          <a:ln w="635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514600" y="2423160"/>
            <a:ext cx="1188720" cy="7772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1" i="0">
                <a:solidFill>
                  <a:srgbClr val="EC111A"/>
                </a:solidFill>
                <a:latin typeface="Open Sans"/>
              </a:rPr>
              <a:t>HITL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749040" y="2423160"/>
            <a:ext cx="3474720" cy="777240"/>
          </a:xfrm>
          <a:prstGeom prst="rect">
            <a:avLst/>
          </a:prstGeom>
          <a:solidFill>
            <a:srgbClr val="F3F3F3"/>
          </a:solidFill>
          <a:ln w="635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794760" y="2423160"/>
            <a:ext cx="3383280" cy="7772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0" i="0">
                <a:solidFill>
                  <a:srgbClr val="1E293B"/>
                </a:solidFill>
                <a:latin typeface="Open Sans"/>
              </a:rPr>
              <a:t>Llamar Motor Riesgo vía IDMC, interpretar resultado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223760" y="2423160"/>
            <a:ext cx="2377440" cy="777240"/>
          </a:xfrm>
          <a:prstGeom prst="rect">
            <a:avLst/>
          </a:prstGeom>
          <a:solidFill>
            <a:srgbClr val="F3F3F3"/>
          </a:solidFill>
          <a:ln w="635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269480" y="2423160"/>
            <a:ext cx="2286000" cy="7772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0" i="0">
                <a:solidFill>
                  <a:srgbClr val="1E293B"/>
                </a:solidFill>
                <a:latin typeface="Open Sans"/>
              </a:rPr>
              <a:t>Oficial crédito si fuera parámetros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601200" y="2423160"/>
            <a:ext cx="2103120" cy="777240"/>
          </a:xfrm>
          <a:prstGeom prst="rect">
            <a:avLst/>
          </a:prstGeom>
          <a:solidFill>
            <a:srgbClr val="F3F3F3"/>
          </a:solidFill>
          <a:ln w="635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646920" y="2423160"/>
            <a:ext cx="2011680" cy="7772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0" i="0">
                <a:solidFill>
                  <a:srgbClr val="1E293B"/>
                </a:solidFill>
                <a:latin typeface="Open Sans"/>
              </a:rPr>
              <a:t>Disclosure pre-oferta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3200400"/>
            <a:ext cx="201168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2920" y="3200400"/>
            <a:ext cx="1920240" cy="7772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1" i="0">
                <a:solidFill>
                  <a:srgbClr val="25337E"/>
                </a:solidFill>
                <a:latin typeface="Open Sans"/>
              </a:rPr>
              <a:t>Gestión Documental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468880" y="3200400"/>
            <a:ext cx="128016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514600" y="3200400"/>
            <a:ext cx="1188720" cy="7772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1" i="0">
                <a:solidFill>
                  <a:srgbClr val="138468"/>
                </a:solidFill>
                <a:latin typeface="Open Sans"/>
              </a:rPr>
              <a:t>Autónomo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749040" y="3200400"/>
            <a:ext cx="347472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794760" y="3200400"/>
            <a:ext cx="3383280" cy="7772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0" i="0">
                <a:solidFill>
                  <a:srgbClr val="1E293B"/>
                </a:solidFill>
                <a:latin typeface="Open Sans"/>
              </a:rPr>
              <a:t>Solicitar docs, Einstein IDP, enviar on-prem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223760" y="3200400"/>
            <a:ext cx="237744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269480" y="3200400"/>
            <a:ext cx="2286000" cy="7772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0" i="0">
                <a:solidFill>
                  <a:srgbClr val="1E293B"/>
                </a:solidFill>
                <a:latin typeface="Open Sans"/>
              </a:rPr>
              <a:t>Si documento ilegible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601200" y="3200400"/>
            <a:ext cx="210312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646920" y="3200400"/>
            <a:ext cx="2011680" cy="7772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0" i="0">
                <a:solidFill>
                  <a:srgbClr val="1E293B"/>
                </a:solidFill>
                <a:latin typeface="Open Sans"/>
              </a:rPr>
              <a:t>No continuar sin KYC OK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57200" y="3977640"/>
            <a:ext cx="2011680" cy="777240"/>
          </a:xfrm>
          <a:prstGeom prst="rect">
            <a:avLst/>
          </a:prstGeom>
          <a:solidFill>
            <a:srgbClr val="F3F3F3"/>
          </a:solidFill>
          <a:ln w="635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02920" y="3977640"/>
            <a:ext cx="1920240" cy="7772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1" i="0">
                <a:solidFill>
                  <a:srgbClr val="25337E"/>
                </a:solidFill>
                <a:latin typeface="Open Sans"/>
              </a:rPr>
              <a:t>Firma y Activación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468880" y="3977640"/>
            <a:ext cx="1280160" cy="777240"/>
          </a:xfrm>
          <a:prstGeom prst="rect">
            <a:avLst/>
          </a:prstGeom>
          <a:solidFill>
            <a:srgbClr val="F3F3F3"/>
          </a:solidFill>
          <a:ln w="635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514600" y="3977640"/>
            <a:ext cx="1188720" cy="7772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1" i="0">
                <a:solidFill>
                  <a:srgbClr val="138468"/>
                </a:solidFill>
                <a:latin typeface="Open Sans"/>
              </a:rPr>
              <a:t>Autónomo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749040" y="3977640"/>
            <a:ext cx="3474720" cy="777240"/>
          </a:xfrm>
          <a:prstGeom prst="rect">
            <a:avLst/>
          </a:prstGeom>
          <a:solidFill>
            <a:srgbClr val="F3F3F3"/>
          </a:solidFill>
          <a:ln w="635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794760" y="3977640"/>
            <a:ext cx="3383280" cy="7772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0" i="0">
                <a:solidFill>
                  <a:srgbClr val="1E293B"/>
                </a:solidFill>
                <a:latin typeface="Open Sans"/>
              </a:rPr>
              <a:t>DocuSign, Flow convierte Lead, activar via IDMC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223760" y="3977640"/>
            <a:ext cx="2377440" cy="777240"/>
          </a:xfrm>
          <a:prstGeom prst="rect">
            <a:avLst/>
          </a:prstGeom>
          <a:solidFill>
            <a:srgbClr val="F3F3F3"/>
          </a:solidFill>
          <a:ln w="635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269480" y="3977640"/>
            <a:ext cx="2286000" cy="7772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0" i="0">
                <a:solidFill>
                  <a:srgbClr val="1E293B"/>
                </a:solidFill>
                <a:latin typeface="Open Sans"/>
              </a:rPr>
              <a:t>Post-aprobación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601200" y="3977640"/>
            <a:ext cx="2103120" cy="777240"/>
          </a:xfrm>
          <a:prstGeom prst="rect">
            <a:avLst/>
          </a:prstGeom>
          <a:solidFill>
            <a:srgbClr val="F3F3F3"/>
          </a:solidFill>
          <a:ln w="635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646920" y="3977640"/>
            <a:ext cx="2011680" cy="7772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0" i="0">
                <a:solidFill>
                  <a:srgbClr val="1E293B"/>
                </a:solidFill>
                <a:latin typeface="Open Sans"/>
              </a:rPr>
              <a:t>Verificar firma pre-activación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57200" y="4754880"/>
            <a:ext cx="201168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02920" y="4754880"/>
            <a:ext cx="1920240" cy="7772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1" i="0">
                <a:solidFill>
                  <a:srgbClr val="25337E"/>
                </a:solidFill>
                <a:latin typeface="Open Sans"/>
              </a:rPr>
              <a:t>Soporte + NBA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468880" y="4754880"/>
            <a:ext cx="128016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514600" y="4754880"/>
            <a:ext cx="1188720" cy="7772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1" i="0">
                <a:solidFill>
                  <a:srgbClr val="138468"/>
                </a:solidFill>
                <a:latin typeface="Open Sans"/>
              </a:rPr>
              <a:t>Autónomo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749040" y="4754880"/>
            <a:ext cx="347472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794760" y="4754880"/>
            <a:ext cx="3383280" cy="7772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0" i="0">
                <a:solidFill>
                  <a:srgbClr val="1E293B"/>
                </a:solidFill>
                <a:latin typeface="Open Sans"/>
              </a:rPr>
              <a:t>FAQ producto, NBA Data Cloud, cross-sell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223760" y="4754880"/>
            <a:ext cx="237744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269480" y="4754880"/>
            <a:ext cx="2286000" cy="7772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0" i="0">
                <a:solidFill>
                  <a:srgbClr val="1E293B"/>
                </a:solidFill>
                <a:latin typeface="Open Sans"/>
              </a:rPr>
              <a:t>Servicio al cliente si escala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601200" y="4754880"/>
            <a:ext cx="210312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646920" y="4754880"/>
            <a:ext cx="2011680" cy="7772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0" i="0">
                <a:solidFill>
                  <a:srgbClr val="1E293B"/>
                </a:solidFill>
                <a:latin typeface="Open Sans"/>
              </a:rPr>
              <a:t>Consentimiento NBA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457200" y="5852160"/>
            <a:ext cx="3703320" cy="594360"/>
          </a:xfrm>
          <a:prstGeom prst="roundRect">
            <a:avLst>
              <a:gd name="adj" fmla="val 15000"/>
            </a:avLst>
          </a:prstGeom>
          <a:solidFill>
            <a:srgbClr val="253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57200" y="5897880"/>
            <a:ext cx="370332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200" b="1" i="0">
                <a:solidFill>
                  <a:srgbClr val="FFC300"/>
                </a:solidFill>
                <a:latin typeface="Montserrat"/>
              </a:rPr>
              <a:t>HABEAS DATA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57200" y="6172200"/>
            <a:ext cx="370332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Open Sans"/>
              </a:rPr>
              <a:t>Consentimiento explícito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4251960" y="5852160"/>
            <a:ext cx="3703320" cy="594360"/>
          </a:xfrm>
          <a:prstGeom prst="roundRect">
            <a:avLst>
              <a:gd name="adj" fmla="val 15000"/>
            </a:avLst>
          </a:prstGeom>
          <a:solidFill>
            <a:srgbClr val="253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251960" y="5897880"/>
            <a:ext cx="370332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200" b="1" i="0">
                <a:solidFill>
                  <a:srgbClr val="FFC300"/>
                </a:solidFill>
                <a:latin typeface="Montserrat"/>
              </a:rPr>
              <a:t>SARLAFT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251960" y="6172200"/>
            <a:ext cx="370332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Open Sans"/>
              </a:rPr>
              <a:t>Validación pre-activación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8046720" y="5852160"/>
            <a:ext cx="3703320" cy="594360"/>
          </a:xfrm>
          <a:prstGeom prst="roundRect">
            <a:avLst>
              <a:gd name="adj" fmla="val 15000"/>
            </a:avLst>
          </a:prstGeom>
          <a:solidFill>
            <a:srgbClr val="253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046720" y="5897880"/>
            <a:ext cx="370332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200" b="1" i="0">
                <a:solidFill>
                  <a:srgbClr val="FFC300"/>
                </a:solidFill>
                <a:latin typeface="Montserrat"/>
              </a:rPr>
              <a:t>Audit Trail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046720" y="6172200"/>
            <a:ext cx="370332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Open Sans"/>
              </a:rPr>
              <a:t>Cada acción auditada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C11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629400"/>
            <a:ext cx="182880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 i="0">
                <a:solidFill>
                  <a:srgbClr val="475862"/>
                </a:solidFill>
                <a:latin typeface="Open Sans"/>
              </a:rPr>
              <a:t>16 /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6629400"/>
            <a:ext cx="246888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 i="1">
                <a:solidFill>
                  <a:srgbClr val="475862"/>
                </a:solidFill>
                <a:latin typeface="Open Sans"/>
              </a:rPr>
              <a:t>Confidencial — Uso Interno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6629400"/>
            <a:ext cx="228600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1" i="0">
                <a:solidFill>
                  <a:srgbClr val="0176D3"/>
                </a:solidFill>
                <a:latin typeface="Open Sans"/>
              </a:rPr>
              <a:t>Salesforce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"/>
            <a:ext cx="1124712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600" b="1" i="0">
                <a:solidFill>
                  <a:srgbClr val="25337E"/>
                </a:solidFill>
                <a:latin typeface="Montserrat"/>
              </a:rPr>
              <a:t>Comparativa Visual — Solución 1 vs. Solución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713232"/>
            <a:ext cx="1124712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0" i="1">
                <a:solidFill>
                  <a:srgbClr val="475862"/>
                </a:solidFill>
                <a:latin typeface="Open Sans"/>
              </a:rPr>
              <a:t>Misma base Sales Cloud · diferente nivel de automatización IA</a:t>
            </a:r>
          </a:p>
        </p:txBody>
      </p:sp>
      <p:pic>
        <p:nvPicPr>
          <p:cNvPr id="8" name="Picture 7" descr="comparativo_v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1247120" cy="384048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57200" y="5212080"/>
            <a:ext cx="3474720" cy="292608"/>
          </a:xfrm>
          <a:prstGeom prst="rect">
            <a:avLst/>
          </a:prstGeom>
          <a:solidFill>
            <a:srgbClr val="253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5212080"/>
            <a:ext cx="3474720" cy="29260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ontserrat"/>
              </a:rPr>
              <a:t>Criterio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931920" y="5212080"/>
            <a:ext cx="3886200" cy="292608"/>
          </a:xfrm>
          <a:prstGeom prst="rect">
            <a:avLst/>
          </a:prstGeom>
          <a:solidFill>
            <a:srgbClr val="253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931920" y="5212080"/>
            <a:ext cx="3886200" cy="29260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ontserrat"/>
              </a:rPr>
              <a:t>Sol 1: Sales Cloud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18120" y="5212080"/>
            <a:ext cx="3886200" cy="292608"/>
          </a:xfrm>
          <a:prstGeom prst="rect">
            <a:avLst/>
          </a:prstGeom>
          <a:solidFill>
            <a:srgbClr val="253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18120" y="5212080"/>
            <a:ext cx="3886200" cy="29260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ontserrat"/>
              </a:rPr>
              <a:t>Sol 2: Agentforce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5504688"/>
            <a:ext cx="34747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5504688"/>
            <a:ext cx="3474720" cy="2743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50" b="0" i="0">
                <a:solidFill>
                  <a:srgbClr val="1E293B"/>
                </a:solidFill>
                <a:latin typeface="Open Sans"/>
              </a:rPr>
              <a:t>Tiempo de alta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931920" y="5504688"/>
            <a:ext cx="38862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931920" y="5504688"/>
            <a:ext cx="3886200" cy="2743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50" b="1" i="0">
                <a:solidFill>
                  <a:srgbClr val="0176D3"/>
                </a:solidFill>
                <a:latin typeface="Open Sans"/>
              </a:rPr>
              <a:t>15-20 min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818120" y="5504688"/>
            <a:ext cx="38862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18120" y="5504688"/>
            <a:ext cx="3886200" cy="2743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50" b="1" i="0">
                <a:solidFill>
                  <a:srgbClr val="EC111A"/>
                </a:solidFill>
                <a:latin typeface="Open Sans"/>
              </a:rPr>
              <a:t>8-12 min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779008"/>
            <a:ext cx="3474720" cy="274320"/>
          </a:xfrm>
          <a:prstGeom prst="rect">
            <a:avLst/>
          </a:prstGeom>
          <a:solidFill>
            <a:srgbClr val="F3F3F3"/>
          </a:solidFill>
          <a:ln w="635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5779008"/>
            <a:ext cx="3474720" cy="2743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50" b="0" i="0">
                <a:solidFill>
                  <a:srgbClr val="1E293B"/>
                </a:solidFill>
                <a:latin typeface="Open Sans"/>
              </a:rPr>
              <a:t>Implementación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931920" y="5779008"/>
            <a:ext cx="3886200" cy="274320"/>
          </a:xfrm>
          <a:prstGeom prst="rect">
            <a:avLst/>
          </a:prstGeom>
          <a:solidFill>
            <a:srgbClr val="F3F3F3"/>
          </a:solidFill>
          <a:ln w="635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931920" y="5779008"/>
            <a:ext cx="3886200" cy="2743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50" b="1" i="0">
                <a:solidFill>
                  <a:srgbClr val="0176D3"/>
                </a:solidFill>
                <a:latin typeface="Open Sans"/>
              </a:rPr>
              <a:t>6-8 semanas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818120" y="5779008"/>
            <a:ext cx="3886200" cy="274320"/>
          </a:xfrm>
          <a:prstGeom prst="rect">
            <a:avLst/>
          </a:prstGeom>
          <a:solidFill>
            <a:srgbClr val="F3F3F3"/>
          </a:solidFill>
          <a:ln w="635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818120" y="5779008"/>
            <a:ext cx="3886200" cy="2743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50" b="1" i="0">
                <a:solidFill>
                  <a:srgbClr val="EC111A"/>
                </a:solidFill>
                <a:latin typeface="Open Sans"/>
              </a:rPr>
              <a:t>12-16 semanas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6053328"/>
            <a:ext cx="34747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6053328"/>
            <a:ext cx="3474720" cy="2743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50" b="0" i="0">
                <a:solidFill>
                  <a:srgbClr val="1E293B"/>
                </a:solidFill>
                <a:latin typeface="Open Sans"/>
              </a:rPr>
              <a:t>ROI 12 meses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931920" y="6053328"/>
            <a:ext cx="38862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931920" y="6053328"/>
            <a:ext cx="3886200" cy="2743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50" b="1" i="0">
                <a:solidFill>
                  <a:srgbClr val="0176D3"/>
                </a:solidFill>
                <a:latin typeface="Open Sans"/>
              </a:rPr>
              <a:t>80-120%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818120" y="6053328"/>
            <a:ext cx="38862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818120" y="6053328"/>
            <a:ext cx="3886200" cy="2743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50" b="1" i="0">
                <a:solidFill>
                  <a:srgbClr val="EC111A"/>
                </a:solidFill>
                <a:latin typeface="Open Sans"/>
              </a:rPr>
              <a:t>130-200%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6327648"/>
            <a:ext cx="3474720" cy="274320"/>
          </a:xfrm>
          <a:prstGeom prst="rect">
            <a:avLst/>
          </a:prstGeom>
          <a:solidFill>
            <a:srgbClr val="F3F3F3"/>
          </a:solidFill>
          <a:ln w="635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6327648"/>
            <a:ext cx="3474720" cy="2743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50" b="0" i="0">
                <a:solidFill>
                  <a:srgbClr val="1E293B"/>
                </a:solidFill>
                <a:latin typeface="Open Sans"/>
              </a:rPr>
              <a:t>Ideal cuando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931920" y="6327648"/>
            <a:ext cx="3886200" cy="274320"/>
          </a:xfrm>
          <a:prstGeom prst="rect">
            <a:avLst/>
          </a:prstGeom>
          <a:solidFill>
            <a:srgbClr val="F3F3F3"/>
          </a:solidFill>
          <a:ln w="635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931920" y="6327648"/>
            <a:ext cx="3886200" cy="2743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50" b="1" i="0">
                <a:solidFill>
                  <a:srgbClr val="0176D3"/>
                </a:solidFill>
                <a:latin typeface="Open Sans"/>
              </a:rPr>
              <a:t>MVP urgente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818120" y="6327648"/>
            <a:ext cx="3886200" cy="274320"/>
          </a:xfrm>
          <a:prstGeom prst="rect">
            <a:avLst/>
          </a:prstGeom>
          <a:solidFill>
            <a:srgbClr val="F3F3F3"/>
          </a:solidFill>
          <a:ln w="635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818120" y="6327648"/>
            <a:ext cx="3886200" cy="2743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50" b="1" i="0">
                <a:solidFill>
                  <a:srgbClr val="EC111A"/>
                </a:solidFill>
                <a:latin typeface="Open Sans"/>
              </a:rPr>
              <a:t>Escala 24/7 + NBA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C11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629400"/>
            <a:ext cx="182880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 i="0">
                <a:solidFill>
                  <a:srgbClr val="475862"/>
                </a:solidFill>
                <a:latin typeface="Open Sans"/>
              </a:rPr>
              <a:t>17 /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6629400"/>
            <a:ext cx="246888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 i="1">
                <a:solidFill>
                  <a:srgbClr val="475862"/>
                </a:solidFill>
                <a:latin typeface="Open Sans"/>
              </a:rPr>
              <a:t>Confidencial — Uso Interno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6629400"/>
            <a:ext cx="228600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1" i="0">
                <a:solidFill>
                  <a:srgbClr val="0176D3"/>
                </a:solidFill>
                <a:latin typeface="Open Sans"/>
              </a:rPr>
              <a:t>Salesforce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"/>
            <a:ext cx="1124712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600" b="1" i="0">
                <a:solidFill>
                  <a:srgbClr val="25337E"/>
                </a:solidFill>
                <a:latin typeface="Montserrat"/>
              </a:rPr>
              <a:t>ROI Comparativo — Metodología Transparente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713232"/>
            <a:ext cx="1124712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0" i="1">
                <a:solidFill>
                  <a:srgbClr val="475862"/>
                </a:solidFill>
                <a:latin typeface="Open Sans"/>
              </a:rPr>
              <a:t>Estimado conservador · validar con finanzas Davibank antes del business case</a:t>
            </a:r>
          </a:p>
        </p:txBody>
      </p:sp>
      <p:pic>
        <p:nvPicPr>
          <p:cNvPr id="8" name="Picture 7" descr="roi_acumulad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6858000" cy="521208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498079" y="1188720"/>
            <a:ext cx="429768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C11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98079" y="1188720"/>
            <a:ext cx="109728" cy="1143000"/>
          </a:xfrm>
          <a:prstGeom prst="rect">
            <a:avLst/>
          </a:prstGeom>
          <a:solidFill>
            <a:srgbClr val="EC11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26679" y="1280160"/>
            <a:ext cx="402336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50" b="1" i="0">
                <a:solidFill>
                  <a:srgbClr val="25337E"/>
                </a:solidFill>
                <a:latin typeface="Montserrat"/>
              </a:rPr>
              <a:t>Reducción tiempo onboarding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26679" y="1554480"/>
            <a:ext cx="4023360" cy="256032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50" b="0" i="1">
                <a:solidFill>
                  <a:srgbClr val="475862"/>
                </a:solidFill>
                <a:latin typeface="Open Sans"/>
              </a:rPr>
              <a:t>40% × N altas/mes × delta costo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26679" y="1783080"/>
            <a:ext cx="402336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 i="0">
                <a:solidFill>
                  <a:srgbClr val="EC111A"/>
                </a:solidFill>
                <a:latin typeface="Montserrat"/>
              </a:rPr>
              <a:t>USD $15K – $40K /mes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26679" y="2057400"/>
            <a:ext cx="402336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50" b="0" i="1">
                <a:solidFill>
                  <a:srgbClr val="94A3B8"/>
                </a:solidFill>
                <a:latin typeface="Open Sans"/>
              </a:rPr>
              <a:t>Fuente: Forrester 2024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98079" y="2423160"/>
            <a:ext cx="429768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C11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498079" y="2423160"/>
            <a:ext cx="109728" cy="1143000"/>
          </a:xfrm>
          <a:prstGeom prst="rect">
            <a:avLst/>
          </a:prstGeom>
          <a:solidFill>
            <a:srgbClr val="EC11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26679" y="2514600"/>
            <a:ext cx="402336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50" b="1" i="0">
                <a:solidFill>
                  <a:srgbClr val="25337E"/>
                </a:solidFill>
                <a:latin typeface="Montserrat"/>
              </a:rPr>
              <a:t>Deflexión consultas post-alta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26679" y="2788920"/>
            <a:ext cx="4023360" cy="256032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50" b="0" i="1">
                <a:solidFill>
                  <a:srgbClr val="475862"/>
                </a:solidFill>
                <a:latin typeface="Open Sans"/>
              </a:rPr>
              <a:t>35% × N consultas × delta canal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26679" y="3017520"/>
            <a:ext cx="402336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 i="0">
                <a:solidFill>
                  <a:srgbClr val="EC111A"/>
                </a:solidFill>
                <a:latin typeface="Montserrat"/>
              </a:rPr>
              <a:t>USD $8K – $20K /mes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26679" y="3291840"/>
            <a:ext cx="402336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50" b="0" i="1">
                <a:solidFill>
                  <a:srgbClr val="94A3B8"/>
                </a:solidFill>
                <a:latin typeface="Open Sans"/>
              </a:rPr>
              <a:t>Fuente: SF State of Service 2024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98079" y="3657600"/>
            <a:ext cx="429768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C11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498079" y="3657600"/>
            <a:ext cx="109728" cy="1143000"/>
          </a:xfrm>
          <a:prstGeom prst="rect">
            <a:avLst/>
          </a:prstGeom>
          <a:solidFill>
            <a:srgbClr val="EC11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26679" y="3749040"/>
            <a:ext cx="402336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50" b="1" i="0">
                <a:solidFill>
                  <a:srgbClr val="25337E"/>
                </a:solidFill>
                <a:latin typeface="Montserrat"/>
              </a:rPr>
              <a:t>Eficiencia documental Einstein IDP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26679" y="4023360"/>
            <a:ext cx="4023360" cy="256032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50" b="0" i="1">
                <a:solidFill>
                  <a:srgbClr val="475862"/>
                </a:solidFill>
                <a:latin typeface="Open Sans"/>
              </a:rPr>
              <a:t>N docs/mes × min ahorrados × $/hora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26679" y="4251960"/>
            <a:ext cx="402336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 i="0">
                <a:solidFill>
                  <a:srgbClr val="EC111A"/>
                </a:solidFill>
                <a:latin typeface="Montserrat"/>
              </a:rPr>
              <a:t>USD $5K – $12K /mes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26679" y="4526280"/>
            <a:ext cx="402336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50" b="0" i="1">
                <a:solidFill>
                  <a:srgbClr val="94A3B8"/>
                </a:solidFill>
                <a:latin typeface="Open Sans"/>
              </a:rPr>
              <a:t>Fuente: Gartner IDP 2023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498079" y="4892040"/>
            <a:ext cx="429768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C11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498079" y="4892040"/>
            <a:ext cx="109728" cy="1143000"/>
          </a:xfrm>
          <a:prstGeom prst="rect">
            <a:avLst/>
          </a:prstGeom>
          <a:solidFill>
            <a:srgbClr val="EC11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26679" y="4983480"/>
            <a:ext cx="402336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50" b="1" i="0">
                <a:solidFill>
                  <a:srgbClr val="25337E"/>
                </a:solidFill>
                <a:latin typeface="Montserrat"/>
              </a:rPr>
              <a:t>Cumplimiento SFC — multas evitadas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26679" y="5257800"/>
            <a:ext cx="4023360" cy="256032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50" b="0" i="1">
                <a:solidFill>
                  <a:srgbClr val="475862"/>
                </a:solidFill>
                <a:latin typeface="Open Sans"/>
              </a:rPr>
              <a:t>Riesgo sanción evitado por trazabilidad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26679" y="5486400"/>
            <a:ext cx="402336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 i="0">
                <a:solidFill>
                  <a:srgbClr val="EC111A"/>
                </a:solidFill>
                <a:latin typeface="Montserrat"/>
              </a:rPr>
              <a:t>USD $10K – $30K /mes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26679" y="5760720"/>
            <a:ext cx="402336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50" b="0" i="1">
                <a:solidFill>
                  <a:srgbClr val="94A3B8"/>
                </a:solidFill>
                <a:latin typeface="Open Sans"/>
              </a:rPr>
              <a:t>Fuente: SFC Circular 029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C11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629400"/>
            <a:ext cx="182880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 i="0">
                <a:solidFill>
                  <a:srgbClr val="475862"/>
                </a:solidFill>
                <a:latin typeface="Open Sans"/>
              </a:rPr>
              <a:t>18 /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6629400"/>
            <a:ext cx="246888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 i="1">
                <a:solidFill>
                  <a:srgbClr val="475862"/>
                </a:solidFill>
                <a:latin typeface="Open Sans"/>
              </a:rPr>
              <a:t>Confidencial — Uso Interno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6629400"/>
            <a:ext cx="228600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1" i="0">
                <a:solidFill>
                  <a:srgbClr val="0176D3"/>
                </a:solidFill>
                <a:latin typeface="Open Sans"/>
              </a:rPr>
              <a:t>Salesforce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"/>
            <a:ext cx="1124712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600" b="1" i="0">
                <a:solidFill>
                  <a:srgbClr val="25337E"/>
                </a:solidFill>
                <a:latin typeface="Montserrat"/>
              </a:rPr>
              <a:t>Hoja de Ruta y Próximos Pasos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713232"/>
            <a:ext cx="1124712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0" i="1">
                <a:solidFill>
                  <a:srgbClr val="475862"/>
                </a:solidFill>
                <a:latin typeface="Open Sans"/>
              </a:rPr>
              <a:t>3 fases · 12+ semanas · responsables claros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188720"/>
            <a:ext cx="3749039" cy="5212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FFC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188720"/>
            <a:ext cx="3749039" cy="548640"/>
          </a:xfrm>
          <a:prstGeom prst="rect">
            <a:avLst/>
          </a:prstGeom>
          <a:solidFill>
            <a:srgbClr val="FFC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234440"/>
            <a:ext cx="3749039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300" b="1" i="0">
                <a:solidFill>
                  <a:srgbClr val="1E293B"/>
                </a:solidFill>
                <a:latin typeface="Montserrat"/>
              </a:rPr>
              <a:t>FASE 1 — FUNDACIÓN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481328"/>
            <a:ext cx="3749039" cy="256032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050" b="0" i="1">
                <a:solidFill>
                  <a:srgbClr val="1E293B"/>
                </a:solidFill>
                <a:latin typeface="Open Sans"/>
              </a:rPr>
              <a:t>Semanas 1-4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965960"/>
            <a:ext cx="18288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 i="0">
                <a:solidFill>
                  <a:srgbClr val="FFC300"/>
                </a:solidFill>
                <a:latin typeface="Open Sans"/>
              </a:rPr>
              <a:t>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1965960"/>
            <a:ext cx="3200399" cy="7772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Open Sans"/>
              </a:rPr>
              <a:t>Workshop discovery: APIs on-prem disponibles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743200"/>
            <a:ext cx="18288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 i="0">
                <a:solidFill>
                  <a:srgbClr val="FFC300"/>
                </a:solidFill>
                <a:latin typeface="Open Sans"/>
              </a:rPr>
              <a:t>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2743200"/>
            <a:ext cx="3200399" cy="7772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Open Sans"/>
              </a:rPr>
              <a:t>Inventario conectores IDMC existentes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520440"/>
            <a:ext cx="18288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 i="0">
                <a:solidFill>
                  <a:srgbClr val="FFC300"/>
                </a:solidFill>
                <a:latin typeface="Open Sans"/>
              </a:rPr>
              <a:t>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520440"/>
            <a:ext cx="3200399" cy="7772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Open Sans"/>
              </a:rPr>
              <a:t>Decisión: Web-to-Lead / Experience Cloud / LWC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297680"/>
            <a:ext cx="18288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 i="0">
                <a:solidFill>
                  <a:srgbClr val="FFC300"/>
                </a:solidFill>
                <a:latin typeface="Open Sans"/>
              </a:rPr>
              <a:t>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297680"/>
            <a:ext cx="3200399" cy="7772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Open Sans"/>
              </a:rPr>
              <a:t>Evaluar KYC actual: compatible AppExchange?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074920"/>
            <a:ext cx="18288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 i="0">
                <a:solidFill>
                  <a:srgbClr val="FFC300"/>
                </a:solidFill>
                <a:latin typeface="Open Sans"/>
              </a:rPr>
              <a:t>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5074920"/>
            <a:ext cx="3200399" cy="7772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Open Sans"/>
              </a:rPr>
              <a:t>Sizing: volumen altas/mes → licencias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43399" y="1188720"/>
            <a:ext cx="3749039" cy="5212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0176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43399" y="1188720"/>
            <a:ext cx="3749039" cy="548640"/>
          </a:xfrm>
          <a:prstGeom prst="rect">
            <a:avLst/>
          </a:prstGeom>
          <a:solidFill>
            <a:srgbClr val="0176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43399" y="1234440"/>
            <a:ext cx="3749039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Montserrat"/>
              </a:rPr>
              <a:t>FASE 2 — POC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43399" y="1481328"/>
            <a:ext cx="3749039" cy="256032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050" b="0" i="1">
                <a:solidFill>
                  <a:srgbClr val="FFFFFF"/>
                </a:solidFill>
                <a:latin typeface="Open Sans"/>
              </a:rPr>
              <a:t>Semanas 4-8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26279" y="1965960"/>
            <a:ext cx="18288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 i="0">
                <a:solidFill>
                  <a:srgbClr val="0176D3"/>
                </a:solidFill>
                <a:latin typeface="Open Sans"/>
              </a:rPr>
              <a:t>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54879" y="1965960"/>
            <a:ext cx="3200399" cy="7772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Open Sans"/>
              </a:rPr>
              <a:t>POC Sol 1: Web-to-Lead + Flow básico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26279" y="2743200"/>
            <a:ext cx="18288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 i="0">
                <a:solidFill>
                  <a:srgbClr val="0176D3"/>
                </a:solidFill>
                <a:latin typeface="Open Sans"/>
              </a:rPr>
              <a:t>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54879" y="2743200"/>
            <a:ext cx="3200399" cy="7772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Open Sans"/>
              </a:rPr>
              <a:t>POC integración: 1 Apex Callout o IDMC (Motor Riesgo)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26279" y="3520440"/>
            <a:ext cx="18288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 i="0">
                <a:solidFill>
                  <a:srgbClr val="0176D3"/>
                </a:solidFill>
                <a:latin typeface="Open Sans"/>
              </a:rPr>
              <a:t>●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54879" y="3520440"/>
            <a:ext cx="3200399" cy="7772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Open Sans"/>
              </a:rPr>
              <a:t>Demo ejecutiva con arquitectura completa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26279" y="4297680"/>
            <a:ext cx="18288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 i="0">
                <a:solidFill>
                  <a:srgbClr val="0176D3"/>
                </a:solidFill>
                <a:latin typeface="Open Sans"/>
              </a:rPr>
              <a:t>●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54879" y="4297680"/>
            <a:ext cx="3200399" cy="7772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Open Sans"/>
              </a:rPr>
              <a:t>ROI cuantificado con datos del POC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29598" y="1188720"/>
            <a:ext cx="3749039" cy="5212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1384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229598" y="1188720"/>
            <a:ext cx="3749039" cy="548640"/>
          </a:xfrm>
          <a:prstGeom prst="rect">
            <a:avLst/>
          </a:prstGeom>
          <a:solidFill>
            <a:srgbClr val="1384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29598" y="1234440"/>
            <a:ext cx="3749039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Montserrat"/>
              </a:rPr>
              <a:t>FASE 3 — IMPLEMENTACIÓN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598" y="1481328"/>
            <a:ext cx="3749039" cy="256032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050" b="0" i="1">
                <a:solidFill>
                  <a:srgbClr val="FFFFFF"/>
                </a:solidFill>
                <a:latin typeface="Open Sans"/>
              </a:rPr>
              <a:t>Semana 8+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12478" y="1965960"/>
            <a:ext cx="18288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 i="0">
                <a:solidFill>
                  <a:srgbClr val="138468"/>
                </a:solidFill>
                <a:latin typeface="Open Sans"/>
              </a:rPr>
              <a:t>●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41078" y="1965960"/>
            <a:ext cx="3200399" cy="7772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Open Sans"/>
              </a:rPr>
              <a:t>Contratación licencias (Exp. Cloud + AppExchange)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12478" y="2743200"/>
            <a:ext cx="18288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 i="0">
                <a:solidFill>
                  <a:srgbClr val="138468"/>
                </a:solidFill>
                <a:latin typeface="Open Sans"/>
              </a:rPr>
              <a:t>●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41078" y="2743200"/>
            <a:ext cx="3200399" cy="7772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Open Sans"/>
              </a:rPr>
              <a:t>Implementación Sol 1 con partner certificado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12478" y="3520440"/>
            <a:ext cx="18288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 i="0">
                <a:solidFill>
                  <a:srgbClr val="138468"/>
                </a:solidFill>
                <a:latin typeface="Open Sans"/>
              </a:rPr>
              <a:t>●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41078" y="3520440"/>
            <a:ext cx="3200399" cy="7772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Open Sans"/>
              </a:rPr>
              <a:t>Planificación Sol 2: Agentforce con 1 Topic inicial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412478" y="4297680"/>
            <a:ext cx="18288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 i="0">
                <a:solidFill>
                  <a:srgbClr val="138468"/>
                </a:solidFill>
                <a:latin typeface="Open Sans"/>
              </a:rPr>
              <a:t>●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641078" y="4297680"/>
            <a:ext cx="3200399" cy="7772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Open Sans"/>
              </a:rPr>
              <a:t>Roadmap escalamiento por topic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C11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629400"/>
            <a:ext cx="182880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 i="0">
                <a:solidFill>
                  <a:srgbClr val="475862"/>
                </a:solidFill>
                <a:latin typeface="Open Sans"/>
              </a:rPr>
              <a:t>19 /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6629400"/>
            <a:ext cx="246888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 i="1">
                <a:solidFill>
                  <a:srgbClr val="475862"/>
                </a:solidFill>
                <a:latin typeface="Open Sans"/>
              </a:rPr>
              <a:t>Confidencial — Uso Interno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6629400"/>
            <a:ext cx="228600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1" i="0">
                <a:solidFill>
                  <a:srgbClr val="0176D3"/>
                </a:solidFill>
                <a:latin typeface="Open Sans"/>
              </a:rPr>
              <a:t>Salesforce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"/>
            <a:ext cx="1124712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600" b="1" i="0">
                <a:solidFill>
                  <a:srgbClr val="25337E"/>
                </a:solidFill>
                <a:latin typeface="Montserrat"/>
              </a:rPr>
              <a:t>Lista de Materiales — Solución 1: Sales Cloud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713232"/>
            <a:ext cx="1124712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0" i="1">
                <a:solidFill>
                  <a:srgbClr val="475862"/>
                </a:solidFill>
                <a:latin typeface="Open Sans"/>
              </a:rPr>
              <a:t>Licencias · Componentes técnicos · Inversión estimada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1124712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 i="0">
                <a:solidFill>
                  <a:srgbClr val="EC111A"/>
                </a:solidFill>
                <a:latin typeface="Montserrat"/>
              </a:rPr>
              <a:t>A. Licencias Salesforce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554480"/>
            <a:ext cx="3200400" cy="292608"/>
          </a:xfrm>
          <a:prstGeom prst="rect">
            <a:avLst/>
          </a:prstGeom>
          <a:solidFill>
            <a:srgbClr val="EC11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554480"/>
            <a:ext cx="3200400" cy="29260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ontserrat"/>
              </a:rPr>
              <a:t>Producto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0" y="1554480"/>
            <a:ext cx="1828800" cy="292608"/>
          </a:xfrm>
          <a:prstGeom prst="rect">
            <a:avLst/>
          </a:prstGeom>
          <a:solidFill>
            <a:srgbClr val="EC11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0" y="1554480"/>
            <a:ext cx="1828800" cy="29260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ontserrat"/>
              </a:rPr>
              <a:t>Estado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0" y="1554480"/>
            <a:ext cx="6217920" cy="292608"/>
          </a:xfrm>
          <a:prstGeom prst="rect">
            <a:avLst/>
          </a:prstGeom>
          <a:solidFill>
            <a:srgbClr val="EC11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0" y="1554480"/>
            <a:ext cx="6217920" cy="29260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ontserrat"/>
              </a:rPr>
              <a:t>Notas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1847088"/>
            <a:ext cx="320040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1847088"/>
            <a:ext cx="3017520" cy="29260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00" b="1" i="0">
                <a:solidFill>
                  <a:srgbClr val="1E293B"/>
                </a:solidFill>
                <a:latin typeface="Open Sans"/>
              </a:rPr>
              <a:t>Sales Cloud Unlimited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0" y="1847088"/>
            <a:ext cx="182880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49040" y="1847088"/>
            <a:ext cx="1645920" cy="29260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00" b="1" i="0">
                <a:solidFill>
                  <a:srgbClr val="138468"/>
                </a:solidFill>
                <a:latin typeface="Open Sans"/>
              </a:rPr>
              <a:t>YA ACTIVO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0" y="1847088"/>
            <a:ext cx="621792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577840" y="1847088"/>
            <a:ext cx="6035040" cy="29260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Open Sans"/>
              </a:rPr>
              <a:t>Base de la solución — reutilizar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2139696"/>
            <a:ext cx="3200400" cy="292608"/>
          </a:xfrm>
          <a:prstGeom prst="rect">
            <a:avLst/>
          </a:prstGeom>
          <a:solidFill>
            <a:srgbClr val="F3F3F3"/>
          </a:solidFill>
          <a:ln w="635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2139696"/>
            <a:ext cx="3017520" cy="29260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00" b="1" i="0">
                <a:solidFill>
                  <a:srgbClr val="1E293B"/>
                </a:solidFill>
                <a:latin typeface="Open Sans"/>
              </a:rPr>
              <a:t>Informatica IDMC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0" y="2139696"/>
            <a:ext cx="1828800" cy="292608"/>
          </a:xfrm>
          <a:prstGeom prst="rect">
            <a:avLst/>
          </a:prstGeom>
          <a:solidFill>
            <a:srgbClr val="F3F3F3"/>
          </a:solidFill>
          <a:ln w="635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749040" y="2139696"/>
            <a:ext cx="1645920" cy="29260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00" b="1" i="0">
                <a:solidFill>
                  <a:srgbClr val="138468"/>
                </a:solidFill>
                <a:latin typeface="Open Sans"/>
              </a:rPr>
              <a:t>YA ACTIVO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0" y="2139696"/>
            <a:ext cx="6217920" cy="292608"/>
          </a:xfrm>
          <a:prstGeom prst="rect">
            <a:avLst/>
          </a:prstGeom>
          <a:solidFill>
            <a:srgbClr val="F3F3F3"/>
          </a:solidFill>
          <a:ln w="635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577840" y="2139696"/>
            <a:ext cx="6035040" cy="29260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Open Sans"/>
              </a:rPr>
              <a:t>Capa integración on-prem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2432304"/>
            <a:ext cx="320040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2432304"/>
            <a:ext cx="3017520" cy="29260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00" b="1" i="0">
                <a:solidFill>
                  <a:srgbClr val="1E293B"/>
                </a:solidFill>
                <a:latin typeface="Open Sans"/>
              </a:rPr>
              <a:t>Marketing Cloud ExactTarget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0" y="2432304"/>
            <a:ext cx="182880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749040" y="2432304"/>
            <a:ext cx="1645920" cy="29260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00" b="1" i="0">
                <a:solidFill>
                  <a:srgbClr val="138468"/>
                </a:solidFill>
                <a:latin typeface="Open Sans"/>
              </a:rPr>
              <a:t>YA ACTIVO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0" y="2432304"/>
            <a:ext cx="621792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577840" y="2432304"/>
            <a:ext cx="6035040" cy="29260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Open Sans"/>
              </a:rPr>
              <a:t>Notificaciones post-alta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2724912"/>
            <a:ext cx="3200400" cy="292608"/>
          </a:xfrm>
          <a:prstGeom prst="rect">
            <a:avLst/>
          </a:prstGeom>
          <a:solidFill>
            <a:srgbClr val="F3F3F3"/>
          </a:solidFill>
          <a:ln w="635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" y="2724912"/>
            <a:ext cx="3017520" cy="29260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00" b="1" i="0">
                <a:solidFill>
                  <a:srgbClr val="1E293B"/>
                </a:solidFill>
                <a:latin typeface="Open Sans"/>
              </a:rPr>
              <a:t>Experience Cloud (Customer)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0" y="2724912"/>
            <a:ext cx="1828800" cy="292608"/>
          </a:xfrm>
          <a:prstGeom prst="rect">
            <a:avLst/>
          </a:prstGeom>
          <a:solidFill>
            <a:srgbClr val="F3F3F3"/>
          </a:solidFill>
          <a:ln w="635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749040" y="2724912"/>
            <a:ext cx="1645920" cy="29260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00" b="1" i="0">
                <a:solidFill>
                  <a:srgbClr val="EC111A"/>
                </a:solidFill>
                <a:latin typeface="Open Sans"/>
              </a:rPr>
              <a:t>Recomendado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0" y="2724912"/>
            <a:ext cx="6217920" cy="292608"/>
          </a:xfrm>
          <a:prstGeom prst="rect">
            <a:avLst/>
          </a:prstGeom>
          <a:solidFill>
            <a:srgbClr val="F3F3F3"/>
          </a:solidFill>
          <a:ln w="635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577840" y="2724912"/>
            <a:ext cx="6035040" cy="29260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Open Sans"/>
              </a:rPr>
              <a:t>Formulario embebido — por MAU/Logins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3017520"/>
            <a:ext cx="320040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48640" y="3017520"/>
            <a:ext cx="3017520" cy="29260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00" b="1" i="0">
                <a:solidFill>
                  <a:srgbClr val="1E293B"/>
                </a:solidFill>
                <a:latin typeface="Open Sans"/>
              </a:rPr>
              <a:t>AppExchange: Truora / Onfido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57600" y="3017520"/>
            <a:ext cx="182880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749040" y="3017520"/>
            <a:ext cx="1645920" cy="29260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00" b="1" i="0">
                <a:solidFill>
                  <a:srgbClr val="EC111A"/>
                </a:solidFill>
                <a:latin typeface="Open Sans"/>
              </a:rPr>
              <a:t>Recomendado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486400" y="3017520"/>
            <a:ext cx="621792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577840" y="3017520"/>
            <a:ext cx="6035040" cy="29260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Open Sans"/>
              </a:rPr>
              <a:t>KYC + biometría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7200" y="3310128"/>
            <a:ext cx="3200400" cy="292608"/>
          </a:xfrm>
          <a:prstGeom prst="rect">
            <a:avLst/>
          </a:prstGeom>
          <a:solidFill>
            <a:srgbClr val="F3F3F3"/>
          </a:solidFill>
          <a:ln w="635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48640" y="3310128"/>
            <a:ext cx="3017520" cy="29260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00" b="1" i="0">
                <a:solidFill>
                  <a:srgbClr val="1E293B"/>
                </a:solidFill>
                <a:latin typeface="Open Sans"/>
              </a:rPr>
              <a:t>AppExchange: DocuSign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0" y="3310128"/>
            <a:ext cx="1828800" cy="292608"/>
          </a:xfrm>
          <a:prstGeom prst="rect">
            <a:avLst/>
          </a:prstGeom>
          <a:solidFill>
            <a:srgbClr val="F3F3F3"/>
          </a:solidFill>
          <a:ln w="635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749040" y="3310128"/>
            <a:ext cx="1645920" cy="29260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00" b="1" i="0">
                <a:solidFill>
                  <a:srgbClr val="EC111A"/>
                </a:solidFill>
                <a:latin typeface="Open Sans"/>
              </a:rPr>
              <a:t>Recomendado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486400" y="3310128"/>
            <a:ext cx="6217920" cy="292608"/>
          </a:xfrm>
          <a:prstGeom prst="rect">
            <a:avLst/>
          </a:prstGeom>
          <a:solidFill>
            <a:srgbClr val="F3F3F3"/>
          </a:solidFill>
          <a:ln w="635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577840" y="3310128"/>
            <a:ext cx="6035040" cy="29260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Open Sans"/>
              </a:rPr>
              <a:t>Firma digital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57200" y="5303520"/>
            <a:ext cx="11247120" cy="1097280"/>
          </a:xfrm>
          <a:prstGeom prst="roundRect">
            <a:avLst>
              <a:gd name="adj" fmla="val 4000"/>
            </a:avLst>
          </a:prstGeom>
          <a:solidFill>
            <a:srgbClr val="253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40080" y="5394960"/>
            <a:ext cx="109728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 i="0">
                <a:solidFill>
                  <a:srgbClr val="FFC300"/>
                </a:solidFill>
                <a:latin typeface="Montserrat"/>
              </a:rPr>
              <a:t>Estimado de Inversión — Solución 1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0080" y="571500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Open Sans"/>
              </a:rPr>
              <a:t>Implementación (partner + config):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126480" y="571500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Montserrat"/>
              </a:rPr>
              <a:t>USD $60,000 – $120,000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0080" y="598932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Open Sans"/>
              </a:rPr>
              <a:t>Licencias adicionales /mes: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126480" y="598932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Montserrat"/>
              </a:rPr>
              <a:t>USD $5,000 – $15,000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 i="1">
                <a:solidFill>
                  <a:srgbClr val="FFC300"/>
                </a:solidFill>
                <a:latin typeface="Open Sans"/>
              </a:rPr>
              <a:t>Validar con equipo comercial Salesforce · Sales Cloud ya pagado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C11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629400"/>
            <a:ext cx="182880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 i="0">
                <a:solidFill>
                  <a:srgbClr val="475862"/>
                </a:solidFill>
                <a:latin typeface="Open Sans"/>
              </a:rPr>
              <a:t>20 /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6629400"/>
            <a:ext cx="246888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 i="1">
                <a:solidFill>
                  <a:srgbClr val="475862"/>
                </a:solidFill>
                <a:latin typeface="Open Sans"/>
              </a:rPr>
              <a:t>Confidencial — Uso Interno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6629400"/>
            <a:ext cx="228600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1" i="0">
                <a:solidFill>
                  <a:srgbClr val="0176D3"/>
                </a:solidFill>
                <a:latin typeface="Open Sans"/>
              </a:rPr>
              <a:t>Salesforce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"/>
            <a:ext cx="1124712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600" b="1" i="0">
                <a:solidFill>
                  <a:srgbClr val="25337E"/>
                </a:solidFill>
                <a:latin typeface="Montserrat"/>
              </a:rPr>
              <a:t>Lista de Materiales — Solución 2: Agentforce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713232"/>
            <a:ext cx="1124712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0" i="1">
                <a:solidFill>
                  <a:srgbClr val="475862"/>
                </a:solidFill>
                <a:latin typeface="Open Sans"/>
              </a:rPr>
              <a:t>Sobre Solución 1 · licencias y componentes adicionales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1124712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 i="0">
                <a:solidFill>
                  <a:srgbClr val="EC111A"/>
                </a:solidFill>
                <a:latin typeface="Montserrat"/>
              </a:rPr>
              <a:t>A. Licencias Adicionales sobre Solución 1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554480"/>
            <a:ext cx="3200400" cy="292608"/>
          </a:xfrm>
          <a:prstGeom prst="rect">
            <a:avLst/>
          </a:prstGeom>
          <a:solidFill>
            <a:srgbClr val="EC11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554480"/>
            <a:ext cx="3200400" cy="29260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ontserrat"/>
              </a:rPr>
              <a:t>Producto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0" y="1554480"/>
            <a:ext cx="1828800" cy="292608"/>
          </a:xfrm>
          <a:prstGeom prst="rect">
            <a:avLst/>
          </a:prstGeom>
          <a:solidFill>
            <a:srgbClr val="EC11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0" y="1554480"/>
            <a:ext cx="1828800" cy="29260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ontserrat"/>
              </a:rPr>
              <a:t>Estado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0" y="1554480"/>
            <a:ext cx="6217920" cy="292608"/>
          </a:xfrm>
          <a:prstGeom prst="rect">
            <a:avLst/>
          </a:prstGeom>
          <a:solidFill>
            <a:srgbClr val="EC11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0" y="1554480"/>
            <a:ext cx="6217920" cy="29260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ontserrat"/>
              </a:rPr>
              <a:t>Notas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1847088"/>
            <a:ext cx="32004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1847088"/>
            <a:ext cx="3017520" cy="329184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00" b="1" i="0">
                <a:solidFill>
                  <a:srgbClr val="1E293B"/>
                </a:solidFill>
                <a:latin typeface="Open Sans"/>
              </a:rPr>
              <a:t>Todo lo de Solución 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0" y="1847088"/>
            <a:ext cx="18288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49040" y="1847088"/>
            <a:ext cx="1645920" cy="329184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00" b="1" i="0">
                <a:solidFill>
                  <a:srgbClr val="1E293B"/>
                </a:solidFill>
                <a:latin typeface="Open Sans"/>
              </a:rPr>
              <a:t>—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0" y="1847088"/>
            <a:ext cx="621792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577840" y="1847088"/>
            <a:ext cx="6035040" cy="329184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Open Sans"/>
              </a:rPr>
              <a:t>Base requerida — no repetir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2176272"/>
            <a:ext cx="3200400" cy="329184"/>
          </a:xfrm>
          <a:prstGeom prst="rect">
            <a:avLst/>
          </a:prstGeom>
          <a:solidFill>
            <a:srgbClr val="F3F3F3"/>
          </a:solidFill>
          <a:ln w="635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2176272"/>
            <a:ext cx="3017520" cy="329184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00" b="1" i="0">
                <a:solidFill>
                  <a:srgbClr val="1E293B"/>
                </a:solidFill>
                <a:latin typeface="Open Sans"/>
              </a:rPr>
              <a:t>Agentforce Service Agent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0" y="2176272"/>
            <a:ext cx="1828800" cy="329184"/>
          </a:xfrm>
          <a:prstGeom prst="rect">
            <a:avLst/>
          </a:prstGeom>
          <a:solidFill>
            <a:srgbClr val="F3F3F3"/>
          </a:solidFill>
          <a:ln w="635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749040" y="2176272"/>
            <a:ext cx="1645920" cy="329184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00" b="1" i="0">
                <a:solidFill>
                  <a:srgbClr val="EC111A"/>
                </a:solidFill>
                <a:latin typeface="Open Sans"/>
              </a:rPr>
              <a:t>Recomendado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0" y="2176272"/>
            <a:ext cx="6217920" cy="329184"/>
          </a:xfrm>
          <a:prstGeom prst="rect">
            <a:avLst/>
          </a:prstGeom>
          <a:solidFill>
            <a:srgbClr val="F3F3F3"/>
          </a:solidFill>
          <a:ln w="635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577840" y="2176272"/>
            <a:ext cx="6035040" cy="329184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Open Sans"/>
              </a:rPr>
              <a:t>Flex Credits o licencia dedicada según volumen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2505456"/>
            <a:ext cx="32004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2505456"/>
            <a:ext cx="3017520" cy="329184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00" b="1" i="0">
                <a:solidFill>
                  <a:srgbClr val="1E293B"/>
                </a:solidFill>
                <a:latin typeface="Open Sans"/>
              </a:rPr>
              <a:t>Data Cloud (Growth)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0" y="2505456"/>
            <a:ext cx="18288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749040" y="2505456"/>
            <a:ext cx="1645920" cy="329184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00" b="1" i="0">
                <a:solidFill>
                  <a:srgbClr val="EC111A"/>
                </a:solidFill>
                <a:latin typeface="Open Sans"/>
              </a:rPr>
              <a:t>Recomendado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0" y="2505456"/>
            <a:ext cx="621792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577840" y="2505456"/>
            <a:ext cx="6035040" cy="329184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Open Sans"/>
              </a:rPr>
              <a:t>Unified Individual · Calculated Insights · NBA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2834640"/>
            <a:ext cx="3200400" cy="329184"/>
          </a:xfrm>
          <a:prstGeom prst="rect">
            <a:avLst/>
          </a:prstGeom>
          <a:solidFill>
            <a:srgbClr val="F3F3F3"/>
          </a:solidFill>
          <a:ln w="635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" y="2834640"/>
            <a:ext cx="3017520" cy="329184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00" b="1" i="0">
                <a:solidFill>
                  <a:srgbClr val="1E293B"/>
                </a:solidFill>
                <a:latin typeface="Open Sans"/>
              </a:rPr>
              <a:t>Einstein IDP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0" y="2834640"/>
            <a:ext cx="1828800" cy="329184"/>
          </a:xfrm>
          <a:prstGeom prst="rect">
            <a:avLst/>
          </a:prstGeom>
          <a:solidFill>
            <a:srgbClr val="F3F3F3"/>
          </a:solidFill>
          <a:ln w="635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749040" y="2834640"/>
            <a:ext cx="1645920" cy="329184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00" b="1" i="0">
                <a:solidFill>
                  <a:srgbClr val="EC111A"/>
                </a:solidFill>
                <a:latin typeface="Open Sans"/>
              </a:rPr>
              <a:t>Recomendado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0" y="2834640"/>
            <a:ext cx="6217920" cy="329184"/>
          </a:xfrm>
          <a:prstGeom prst="rect">
            <a:avLst/>
          </a:prstGeom>
          <a:solidFill>
            <a:srgbClr val="F3F3F3"/>
          </a:solidFill>
          <a:ln w="635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577840" y="2834640"/>
            <a:ext cx="6035040" cy="329184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Open Sans"/>
              </a:rPr>
              <a:t>Extracción documental — por página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3163824"/>
            <a:ext cx="32004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48640" y="3163824"/>
            <a:ext cx="3017520" cy="329184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00" b="1" i="0">
                <a:solidFill>
                  <a:srgbClr val="1E293B"/>
                </a:solidFill>
                <a:latin typeface="Open Sans"/>
              </a:rPr>
              <a:t>Messaging for In-App &amp; Web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57600" y="3163824"/>
            <a:ext cx="18288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749040" y="3163824"/>
            <a:ext cx="1645920" cy="329184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00" b="1" i="0">
                <a:solidFill>
                  <a:srgbClr val="0176D3"/>
                </a:solidFill>
                <a:latin typeface="Open Sans"/>
              </a:rPr>
              <a:t>Opcional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486400" y="3163824"/>
            <a:ext cx="621792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577840" y="3163824"/>
            <a:ext cx="6035040" cy="329184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Open Sans"/>
              </a:rPr>
              <a:t>Canal WhatsApp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3657600"/>
            <a:ext cx="1124712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 i="0">
                <a:solidFill>
                  <a:srgbClr val="EC111A"/>
                </a:solidFill>
                <a:latin typeface="Montserrat"/>
              </a:rPr>
              <a:t>B. Componentes Técnicos Adicionales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57200" y="4023360"/>
            <a:ext cx="5577840" cy="365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C11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94360" y="4023360"/>
            <a:ext cx="2286000" cy="36576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50" b="1" i="0">
                <a:solidFill>
                  <a:srgbClr val="25337E"/>
                </a:solidFill>
                <a:latin typeface="Montserrat"/>
              </a:rPr>
              <a:t>Agentforce Topics &amp; Actions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926080" y="4023360"/>
            <a:ext cx="3017520" cy="36576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Open Sans"/>
              </a:rPr>
              <a:t>5 topics del proceso alta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217920" y="4023360"/>
            <a:ext cx="5577840" cy="365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C11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355080" y="4023360"/>
            <a:ext cx="2286000" cy="36576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50" b="1" i="0">
                <a:solidFill>
                  <a:srgbClr val="25337E"/>
                </a:solidFill>
                <a:latin typeface="Montserrat"/>
              </a:rPr>
              <a:t>Data Cloud DMOs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686800" y="4023360"/>
            <a:ext cx="3017520" cy="36576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Open Sans"/>
              </a:rPr>
              <a:t>Unified Individual · Financial Account · Insights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57200" y="4434840"/>
            <a:ext cx="5577840" cy="365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C11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94360" y="4434840"/>
            <a:ext cx="2286000" cy="36576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50" b="1" i="0">
                <a:solidFill>
                  <a:srgbClr val="25337E"/>
                </a:solidFill>
                <a:latin typeface="Montserrat"/>
              </a:rPr>
              <a:t>Identity Resolution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926080" y="4434840"/>
            <a:ext cx="3017520" cy="36576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Open Sans"/>
              </a:rPr>
              <a:t>Perfil único cross-sistemas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217920" y="4434840"/>
            <a:ext cx="5577840" cy="365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C11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355080" y="4434840"/>
            <a:ext cx="2286000" cy="36576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50" b="1" i="0">
                <a:solidFill>
                  <a:srgbClr val="25337E"/>
                </a:solidFill>
                <a:latin typeface="Montserrat"/>
              </a:rPr>
              <a:t>Einstein IDP Actions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686800" y="4434840"/>
            <a:ext cx="3017520" cy="36576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Open Sans"/>
              </a:rPr>
              <a:t>Extracción automática documentos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457200" y="4846320"/>
            <a:ext cx="11247120" cy="365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C11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94360" y="4846320"/>
            <a:ext cx="4114800" cy="36576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50" b="1" i="0">
                <a:solidFill>
                  <a:srgbClr val="25337E"/>
                </a:solidFill>
                <a:latin typeface="Montserrat"/>
              </a:rPr>
              <a:t>NBA Actions (Data Cloud)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754880" y="4846320"/>
            <a:ext cx="6400800" cy="36576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Open Sans"/>
              </a:rPr>
              <a:t>Recomendación post-alta automática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457200" y="5532120"/>
            <a:ext cx="11247120" cy="914400"/>
          </a:xfrm>
          <a:prstGeom prst="roundRect">
            <a:avLst>
              <a:gd name="adj" fmla="val 4000"/>
            </a:avLst>
          </a:prstGeom>
          <a:solidFill>
            <a:srgbClr val="EC11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40080" y="5577840"/>
            <a:ext cx="109728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 i="0">
                <a:solidFill>
                  <a:srgbClr val="FFC300"/>
                </a:solidFill>
                <a:latin typeface="Montserrat"/>
              </a:rPr>
              <a:t>Estimado de Inversión Total — Solución 2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40080" y="5852160"/>
            <a:ext cx="5486400" cy="256032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Open Sans"/>
              </a:rPr>
              <a:t>Implementación total: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846320" y="5852160"/>
            <a:ext cx="6400800" cy="256032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Montserrat"/>
              </a:rPr>
              <a:t>USD $130,000 – $260,000  (Sol 1 + Agentforce)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40080" y="6080760"/>
            <a:ext cx="5486400" cy="256032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Open Sans"/>
              </a:rPr>
              <a:t>Licencias adicionales /mes: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846320" y="6080760"/>
            <a:ext cx="6400800" cy="256032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Montserrat"/>
              </a:rPr>
              <a:t>USD $12,000 – $30,000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40080" y="6291072"/>
            <a:ext cx="1097280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 i="1">
                <a:solidFill>
                  <a:srgbClr val="FFC300"/>
                </a:solidFill>
                <a:latin typeface="Open Sans"/>
              </a:rPr>
              <a:t>ROI adicional vs. Solución 1: +50-80% a 12 meses · validar con comercial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