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12191695" cy="6803136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Montserrat"/>
              </a:rPr>
              <a:t>Transformación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5400" b="1" i="0">
                <a:solidFill>
                  <a:srgbClr val="FFC300"/>
                </a:solidFill>
                <a:latin typeface="Montserrat"/>
              </a:rPr>
              <a:t>del Alta de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Open Sans"/>
              </a:rPr>
              <a:t>Arquitectura Salesforce Sales Cloud para Davibank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4007" y="4937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b="1" sz="1400">
                <a:solidFill>
                  <a:srgbClr val="FFFFFF"/>
                </a:solidFill>
                <a:latin typeface="Montserrat"/>
              </a:rPr>
              <a:t>Sales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0007" y="4937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b="1" sz="1400">
                <a:solidFill>
                  <a:srgbClr val="FFFFFF"/>
                </a:solidFill>
                <a:latin typeface="Montserrat"/>
              </a:rPr>
              <a:t>Agentforce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6007" y="4937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38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b="1" sz="1400">
                <a:solidFill>
                  <a:srgbClr val="FFFFFF"/>
                </a:solidFill>
                <a:latin typeface="Montserrat"/>
              </a:rPr>
              <a:t>Informatica IDMC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Open Sans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88720" cy="9601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887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44752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5337E"/>
                </a:solidFill>
                <a:latin typeface="Montserrat"/>
              </a:rPr>
              <a:t>Entendimiento del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601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75862"/>
                </a:solidFill>
                <a:latin typeface="Open Sans"/>
              </a:rPr>
              <a:t>Diagrama del Cliente y principios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88720" cy="9601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11887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50592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5337E"/>
                </a:solidFill>
                <a:latin typeface="Montserrat"/>
              </a:rPr>
              <a:t>Solución 1: Sales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34640"/>
            <a:ext cx="9601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75862"/>
                </a:solidFill>
                <a:latin typeface="Open Sans"/>
              </a:rPr>
              <a:t>Formulario Web Embebido en davibank.com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1188720" cy="9601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11887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456432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5337E"/>
                </a:solidFill>
                <a:latin typeface="Montserrat"/>
              </a:rPr>
              <a:t>Solución 2: Agentforce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80"/>
            <a:ext cx="9601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75862"/>
                </a:solidFill>
                <a:latin typeface="Open Sans"/>
              </a:rPr>
              <a:t>Onboarding 24/7 sobre Sales Cloud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9768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1188720" cy="9601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11887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62272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5337E"/>
                </a:solidFill>
                <a:latin typeface="Montserrat"/>
              </a:rPr>
              <a:t>Comparativa y 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846320"/>
            <a:ext cx="9601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75862"/>
                </a:solidFill>
                <a:latin typeface="Open Sans"/>
              </a:rPr>
              <a:t>Beneficios y retorno a 12 meses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03520"/>
            <a:ext cx="11247120" cy="960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303520"/>
            <a:ext cx="1188720" cy="96012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03520"/>
            <a:ext cx="1188720" cy="9601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468112"/>
            <a:ext cx="9601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5337E"/>
                </a:solidFill>
                <a:latin typeface="Montserrat"/>
              </a:rPr>
              <a:t>Lista de Materiales (BoM)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52160"/>
            <a:ext cx="9601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75862"/>
                </a:solidFill>
                <a:latin typeface="Open Sans"/>
              </a:rPr>
              <a:t>Ambas soluciones detalladas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El Reto de Davibank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Situación actual vs. ambición digital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905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303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BE061B"/>
                </a:solidFill>
                <a:latin typeface="Montserrat"/>
              </a:rPr>
              <a:t>Situación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EC111A"/>
                </a:solidFill>
                <a:latin typeface="Open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7451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Alta manual o asistida — proceso tarda 2-5 días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7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EC111A"/>
                </a:solidFill>
                <a:latin typeface="Open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6887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CRM Salesforce activo pero sin formulario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3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EC111A"/>
                </a:solidFill>
                <a:latin typeface="Open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6323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Sistemas core on-premise desconectados del CRM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59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EC111A"/>
                </a:solidFill>
                <a:latin typeface="Open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5759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Alta tasa de abandono y reproceso documental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5195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EC111A"/>
                </a:solidFill>
                <a:latin typeface="Open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5195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Sin trazabilidad automática para SFC y HABEAS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188720"/>
            <a:ext cx="55778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325880"/>
            <a:ext cx="5303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Montserrat"/>
              </a:rPr>
              <a:t>Lo que Davibank quiere lograr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Open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87451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Formulario digital embebido en davibank.com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6887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Open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7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Datos directamente en Sales Cloud — sin ETL manual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06323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Open San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06323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Integración automática con Motor de Riesgo y Biométrica vía IDMC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5759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Open San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65759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Disponibilidad digital 24/7 + canal físico unificado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51959"/>
            <a:ext cx="1371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138468"/>
                </a:solidFill>
                <a:latin typeface="Open San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51959"/>
            <a:ext cx="49377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Open Sans"/>
              </a:rPr>
              <a:t>Cumplimiento SFC / HABEAS DATA / SARLAFT automatizado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49240"/>
            <a:ext cx="3703320" cy="1097280"/>
          </a:xfrm>
          <a:prstGeom prst="roundRect">
            <a:avLst>
              <a:gd name="adj" fmla="val 10000"/>
            </a:avLst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394960"/>
            <a:ext cx="37033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2-5 días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9788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Open Sans"/>
              </a:rPr>
              <a:t>Tiempo actual para completar un alta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5349240"/>
            <a:ext cx="3703320" cy="1097280"/>
          </a:xfrm>
          <a:prstGeom prst="roundRect">
            <a:avLst>
              <a:gd name="adj" fmla="val 10000"/>
            </a:avLst>
          </a:prstGeom>
          <a:solidFill>
            <a:srgbClr val="BE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5394960"/>
            <a:ext cx="37033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8+ pasos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89788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Open Sans"/>
              </a:rPr>
              <a:t>Manuales — sin automatización end-to-end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349240"/>
            <a:ext cx="3703320" cy="1097280"/>
          </a:xfrm>
          <a:prstGeom prst="roundRect">
            <a:avLst>
              <a:gd name="adj" fmla="val 10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5394960"/>
            <a:ext cx="37033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Alto costo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897880"/>
            <a:ext cx="37033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Open Sans"/>
              </a:rPr>
              <a:t>Dependencia total de asesores físicos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Diagrama del 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Tres carriles · de canal a activación</a:t>
            </a:r>
          </a:p>
        </p:txBody>
      </p:sp>
      <p:pic>
        <p:nvPicPr>
          <p:cNvPr id="8" name="Picture 7" descr="cliente_swim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Principios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Cuatro decisiones técnicas que sostienen ambas soluciones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57784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77840" cy="164592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206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EC111A"/>
                </a:solidFill>
                <a:latin typeface="Montserrat"/>
              </a:rPr>
              <a:t>Sales Cloud como Orquestador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512064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Flow Builder orquesta el proceso completo de alta sin código. Cada paso — KYC, scoring, firma, activación — es un elemento del Flow con manejo de errores y reintentos.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475862"/>
                </a:solidFill>
                <a:latin typeface="Open Sans"/>
              </a:rPr>
              <a:t>Referencia: RBC Wealth Management redujo onboarding de semanas a 24 min usando Salesforce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57784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577840" cy="164592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17320"/>
            <a:ext cx="51206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176D3"/>
                </a:solidFill>
                <a:latin typeface="Montserrat"/>
              </a:rPr>
              <a:t>Formulario Embebido en davibank.com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512064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El cliente nunca sale del dominio bancario. Tres opciones técnicas: Experience Cloud Site (producción) · LWC (control total) · Web-to-Lead (MVP en 1-2 sem).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0040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475862"/>
                </a:solidFill>
                <a:latin typeface="Open Sans"/>
              </a:rPr>
              <a:t>Mismo Lead en Sales Cloud independientemente de la opción elegida.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557784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5577840" cy="164592"/>
          </a:xfrm>
          <a:prstGeom prst="rect">
            <a:avLst/>
          </a:prstGeom>
          <a:solidFill>
            <a:srgbClr val="138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51206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38468"/>
                </a:solidFill>
                <a:latin typeface="Montserrat"/>
              </a:rPr>
              <a:t>Informatica IDMC — Integración sin MuleSoft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512064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IDMC (YA ACTIVO en Davibank) conecta Sales Cloud con on-prem usando conectores nativos Salesforce y APIs REST. Para llamadas simples, Apex Callouts son suficientes.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5216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475862"/>
                </a:solidFill>
                <a:latin typeface="Open Sans"/>
              </a:rPr>
              <a:t>Cero herramientas nuevas de integración.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80"/>
            <a:ext cx="557784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3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840480"/>
            <a:ext cx="5577840" cy="164592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69080"/>
            <a:ext cx="51206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5337E"/>
                </a:solidFill>
                <a:latin typeface="Montserrat"/>
              </a:rPr>
              <a:t>Diseño Async para Latencia On-Prem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17720"/>
            <a:ext cx="512064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Ningún sistema on-prem bloquea la UX. Sales Cloud dispara Platform Event → IDMC procesa en background → webhook actualiza Flow → cliente ve progreso animado.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85216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475862"/>
                </a:solidFill>
                <a:latin typeface="Open Sans"/>
              </a:rPr>
              <a:t>La latencia on-prem es invisible para el cliente.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400800"/>
            <a:ext cx="11247120" cy="201168"/>
          </a:xfrm>
          <a:prstGeom prst="roundRect">
            <a:avLst>
              <a:gd name="adj" fmla="val 40000"/>
            </a:avLst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20116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  <a:latin typeface="Open Sans"/>
              </a:rPr>
              <a:t>Fuera de alcance: CRC + Módulo Retail  |  Sin MuleSoft ni Industries — Sales Cloud puro + IDMC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Solución 1 — Arquitectura Sales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5 capas: Canales · Sales Cloud · IDMC · On-Prem · Data &amp; Notificaciones</a:t>
            </a:r>
          </a:p>
        </p:txBody>
      </p:sp>
      <p:pic>
        <p:nvPicPr>
          <p:cNvPr id="8" name="Picture 7" descr="sol1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Solución 1 — Journey del 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6 pasos · 7 a 15 minutos end-to-end</a:t>
            </a:r>
          </a:p>
        </p:txBody>
      </p:sp>
      <p:pic>
        <p:nvPicPr>
          <p:cNvPr id="8" name="Picture 7" descr="sol1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Formulario Embebido en davibank.com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3 opciones técnicas según velocidad y control</a:t>
            </a:r>
          </a:p>
        </p:txBody>
      </p:sp>
      <p:pic>
        <p:nvPicPr>
          <p:cNvPr id="8" name="Picture 7" descr="formulario_op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Beneficios — Solución 1: Sales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8 ventajas de negocio y técnicas, con referencia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32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743200" cy="109728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032D60"/>
                </a:solidFill>
                <a:latin typeface="Montserrat"/>
              </a:rPr>
              <a:t>Formulario en dominio del banco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Cliente permanece en davibank.com — mayor confianza, menor abandono.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Mejor práctica Experience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18872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188720"/>
            <a:ext cx="2743200" cy="109728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37160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0176D3"/>
                </a:solidFill>
                <a:latin typeface="Montserrat"/>
              </a:rPr>
              <a:t>Datos nativos sin ETL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El Lead se crea en tiempo real en Sales Cloud. Sin middleware de captura.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29184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Ponce Bank — 54 sistemas unificados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18872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743200" cy="10972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7160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EC111A"/>
                </a:solidFill>
                <a:latin typeface="Montserrat"/>
              </a:rPr>
              <a:t>Semanas a minutos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10312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Salesforce Flow reemplaza proceso manual de 2-5 días. Automatización end-to-end.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9184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RBC Wealth: semanas → 24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18872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3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188720"/>
            <a:ext cx="2743200" cy="109728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37160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25337E"/>
                </a:solidFill>
                <a:latin typeface="Montserrat"/>
              </a:rPr>
              <a:t>Trazabilidad SFC automática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10312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Cada paso del onboarding queda auditado. HABEAS DATA registrado en 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29184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Cumplimiento Circular SFC 029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9476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794760"/>
            <a:ext cx="2743200" cy="109728"/>
          </a:xfrm>
          <a:prstGeom prst="rect">
            <a:avLst/>
          </a:prstGeom>
          <a:solidFill>
            <a:srgbClr val="138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4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38468"/>
                </a:solidFill>
                <a:latin typeface="Montserrat"/>
              </a:rPr>
              <a:t>Reutiliza inversión existente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70916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Sales Cloud Unlimited + IDMC ya activos. Sin MuleSoft, Industries ni FSC.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9788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TCO reducido al mínimo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379476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0" y="3794760"/>
            <a:ext cx="2743200" cy="109728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397764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0176D3"/>
                </a:solidFill>
                <a:latin typeface="Montserrat"/>
              </a:rPr>
              <a:t>Flow Builder — sin código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470916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Negocio ajusta el proceso sin desarrollo. Cambios sin tickets de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589788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Agilidad operativa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379476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32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3794760"/>
            <a:ext cx="2743200" cy="109728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97764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032D60"/>
                </a:solidFill>
                <a:latin typeface="Montserrat"/>
              </a:rPr>
              <a:t>Visibilidad del funnel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70916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Reports &amp; Dashboards nativos: conversión, tiempo por paso, abandono por etapa.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89788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Reports &amp; Dashboards Sales Cloud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379476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20" y="3794760"/>
            <a:ext cx="2743200" cy="10972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3977640"/>
            <a:ext cx="24688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EC111A"/>
                </a:solidFill>
                <a:latin typeface="Montserrat"/>
              </a:rPr>
              <a:t>3 opciones de despliegue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4709160"/>
            <a:ext cx="24688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MVP 1-2 sem (Web-to-Lead) o producción robusta (Experience Cloud).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5897880"/>
            <a:ext cx="24688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475862"/>
                </a:solidFill>
                <a:latin typeface="Open Sans"/>
              </a:rPr>
              <a:t>Misma arquitectura backend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Latencia On-Prem — Análisis y Mitigación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Estrategia async por sistema · cliente nunca espera en pantalla en blanco</a:t>
            </a:r>
          </a:p>
        </p:txBody>
      </p:sp>
      <p:pic>
        <p:nvPicPr>
          <p:cNvPr id="8" name="Picture 7" descr="latencia_bar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5212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188720"/>
            <a:ext cx="4297680" cy="521208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253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280160"/>
            <a:ext cx="4114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5337E"/>
                </a:solidFill>
                <a:latin typeface="Montserrat"/>
              </a:rPr>
              <a:t>Estrategia de Mitigación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783080"/>
            <a:ext cx="3931920" cy="36576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856232"/>
            <a:ext cx="3931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5337E"/>
                </a:solidFill>
                <a:latin typeface="Montserrat"/>
              </a:rPr>
              <a:t>Motor de Riesgo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130552"/>
            <a:ext cx="39319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Flow Pause + Platform Event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560320"/>
            <a:ext cx="3931920" cy="36576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633472"/>
            <a:ext cx="3931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5337E"/>
                </a:solidFill>
                <a:latin typeface="Montserrat"/>
              </a:rPr>
              <a:t>Biométrica/KYC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07792"/>
            <a:ext cx="39319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Apex async + fallback manual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337560"/>
            <a:ext cx="3931920" cy="36576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410712"/>
            <a:ext cx="3931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5337E"/>
                </a:solidFill>
                <a:latin typeface="Montserrat"/>
              </a:rPr>
              <a:t>Gestor Documental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685032"/>
            <a:ext cx="39319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Salesforce Files first + IDMC bg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114800"/>
            <a:ext cx="3931920" cy="36576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4187952"/>
            <a:ext cx="3931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5337E"/>
                </a:solidFill>
                <a:latin typeface="Montserrat"/>
              </a:rPr>
              <a:t>Firma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462272"/>
            <a:ext cx="39319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DocuSign webhook + Marketing Cloud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4892040"/>
            <a:ext cx="3931920" cy="36576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4965192"/>
            <a:ext cx="3931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5337E"/>
                </a:solidFill>
                <a:latin typeface="Montserrat"/>
              </a:rPr>
              <a:t>Cores Negocio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239512"/>
            <a:ext cx="39319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Event-driven post-aprobación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5943600"/>
            <a:ext cx="4297680" cy="411480"/>
          </a:xfrm>
          <a:prstGeom prst="roundRect">
            <a:avLst>
              <a:gd name="adj" fmla="val 30000"/>
            </a:avLst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5943600"/>
            <a:ext cx="429768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Open Sans"/>
              </a:rPr>
              <a:t>Latencia invisible para el cliente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11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Qué es Agentforce sobre Sales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Agente autónomo desplegado sobre Sales Cloud Unlimited — sin FSC, sin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280160"/>
            <a:ext cx="3931920" cy="2286000"/>
          </a:xfrm>
          <a:prstGeom prst="roundRect">
            <a:avLst>
              <a:gd name="adj" fmla="val 15000"/>
            </a:avLst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463040"/>
            <a:ext cx="393192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ontserrat"/>
              </a:rPr>
              <a:t>AGENTFORCE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3931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FFC300"/>
                </a:solidFill>
                <a:latin typeface="Montserrat"/>
              </a:rPr>
              <a:t>Service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393192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Open Sans"/>
              </a:rPr>
              <a:t>sobre Sales Cloud Unlimited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176D3"/>
                </a:solidFill>
                <a:latin typeface="Montserrat"/>
              </a:rPr>
              <a:t>Entiende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7452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Open Sans"/>
              </a:rPr>
              <a:t>Lee Lead, Account, Opportunity del CRM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1732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176D3"/>
                </a:solidFill>
                <a:latin typeface="Montserrat"/>
              </a:rPr>
              <a:t>Actúa autónomamente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Open Sans"/>
              </a:rPr>
              <a:t>Crea y actualiza registros en Sales 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9748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38468"/>
                </a:solidFill>
                <a:latin typeface="Montserrat"/>
              </a:rPr>
              <a:t>Escala al asesor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5468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Open Sans"/>
              </a:rPr>
              <a:t>Solo en excepciones definidas (HITL)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56032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69748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38468"/>
                </a:solidFill>
                <a:latin typeface="Montserrat"/>
              </a:rPr>
              <a:t>24/7 sin costo extra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54680"/>
            <a:ext cx="32918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Open Sans"/>
              </a:rPr>
              <a:t>Maneja N conversaciones simultáneas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11247120" cy="502920"/>
          </a:xfrm>
          <a:prstGeom prst="roundRect">
            <a:avLst>
              <a:gd name="adj" fmla="val 10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pen Sans"/>
              </a:rPr>
              <a:t>Despliegue sobre Sales Cloud Unlimited · objetos nativos · misma integración IDMC que Solución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2103120" cy="365760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2103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Dimensión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572000"/>
            <a:ext cx="2560320" cy="365760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457200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Proceso Actual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4572000"/>
            <a:ext cx="2560320" cy="365760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457200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Solución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572000"/>
            <a:ext cx="2560320" cy="365760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457200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Solución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3776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2103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Tiempo de alta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493776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493776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2-5 días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493776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493776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15-20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493776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493776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8-12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03520"/>
            <a:ext cx="21031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03520"/>
            <a:ext cx="2103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Disponibilidad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530352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530352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Horario oficina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530352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530352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24/7 digital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530352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530352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24/7 autónomo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66928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669280"/>
            <a:ext cx="2103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Intervención humana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566928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0" y="566928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Todo manual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20640" y="566928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0" y="566928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Validaciones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5669280"/>
            <a:ext cx="2560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0" y="566928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Excepciones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6035040"/>
            <a:ext cx="21031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035040"/>
            <a:ext cx="2103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Canales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603504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0" y="603504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Físico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603504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0" y="603504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Web + Físico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6035040"/>
            <a:ext cx="2560320" cy="36576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6035040"/>
            <a:ext cx="25603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Web/WhatsApp/SMS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Solución 2 — Arquitectura Agentforce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Hub-and-spoke · 5 Topics · Sales Cloud como base de datos</a:t>
            </a:r>
          </a:p>
        </p:txBody>
      </p:sp>
      <p:pic>
        <p:nvPicPr>
          <p:cNvPr id="8" name="Picture 7" descr="sol2_agentforce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Solución 2 — Journey Conversacional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7 pasos · agente guía al cliente en lenguaje natural</a:t>
            </a:r>
          </a:p>
        </p:txBody>
      </p:sp>
      <p:pic>
        <p:nvPicPr>
          <p:cNvPr id="8" name="Picture 7" descr="sol2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Beneficios — Solución 2: Agentforce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Operacionales y estratégicos · con métrica y fuente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57784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77840" cy="36576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5778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Beneficios Operacionales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EC111A"/>
                </a:solidFill>
                <a:latin typeface="Montserrat"/>
              </a:rPr>
              <a:t>-65%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691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Tiempo de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057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De 2-5 días a 8-15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423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Forrester Digital Onboarding ROI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EC111A"/>
                </a:solidFill>
                <a:latin typeface="Montserrat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834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Sin dependencia horario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200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Picos sin contratar personal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566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Agentforce — continua sin costo extra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7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EC111A"/>
                </a:solidFill>
                <a:latin typeface="Montserrat"/>
              </a:rPr>
              <a:t>-40%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977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Abandono del formulario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43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Agente detecta intención de salida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09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Benchmark conv. AI onboarding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EC111A"/>
                </a:solidFill>
                <a:latin typeface="Montserrat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120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Trazabilidad SFC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486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HABEAS DATA + SARLAFT automático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852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Cumplimiento auditado por sesión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188720"/>
            <a:ext cx="557784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3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188720"/>
            <a:ext cx="5577840" cy="365760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188720"/>
            <a:ext cx="55778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Beneficios Estratégicos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691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5337E"/>
                </a:solidFill>
                <a:latin typeface="Montserrat"/>
              </a:rPr>
              <a:t>Escala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1691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Sin contratar personal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057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N conversaciones simultáneas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2423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Agentforce — autonomous AI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834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5337E"/>
                </a:solidFill>
                <a:latin typeface="Montserrat"/>
              </a:rPr>
              <a:t>IDP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834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Docs en segundos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200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Einstein IDP extrae cédula/contratos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3566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Salesforce IDP benchmarks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977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5337E"/>
                </a:solidFill>
                <a:latin typeface="Montserrat"/>
              </a:rPr>
              <a:t>NBA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3977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Next Best Action post-alta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343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Data Cloud calcula propensión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709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RBC Wealth — Data 360 + NBA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12064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5337E"/>
                </a:solidFill>
                <a:latin typeface="Montserrat"/>
              </a:rPr>
              <a:t>Multi-canal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512064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5337E"/>
                </a:solidFill>
                <a:latin typeface="Montserrat"/>
              </a:rPr>
              <a:t>Un agente, varios canales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548640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Web · WhatsApp · SMS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585216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475862"/>
                </a:solidFill>
                <a:latin typeface="Open Sans"/>
              </a:rPr>
              <a:t>Mismo Sales Cloud en todos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Topics y Capacidades del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5 topics · modo autónomo / HITL · guardrails activos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188720"/>
            <a:ext cx="1280160" cy="4572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1887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Modo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1188720"/>
            <a:ext cx="3474720" cy="4572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188720"/>
            <a:ext cx="34747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Acciones Clave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188720"/>
            <a:ext cx="2377440" cy="4572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188720"/>
            <a:ext cx="23774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Escalamiento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188720"/>
            <a:ext cx="2103120" cy="4572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188720"/>
            <a:ext cx="21031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"/>
              </a:rPr>
              <a:t>Guardrails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64592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645920"/>
            <a:ext cx="192024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25337E"/>
                </a:solidFill>
                <a:latin typeface="Open Sans"/>
              </a:rPr>
              <a:t>Captura y Validación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164592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1645920"/>
            <a:ext cx="11887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138468"/>
                </a:solidFill>
                <a:latin typeface="Open Sans"/>
              </a:rPr>
              <a:t>Autónomo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164592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1645920"/>
            <a:ext cx="33832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Solicitar datos, validar cédula, crear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64592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645920"/>
            <a:ext cx="22860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Si formulario incompleto 3x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64592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645920"/>
            <a:ext cx="20116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Solo productos activos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23160"/>
            <a:ext cx="201168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423160"/>
            <a:ext cx="192024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25337E"/>
                </a:solidFill>
                <a:latin typeface="Open Sans"/>
              </a:rPr>
              <a:t>Evaluación Crediticia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2423160"/>
            <a:ext cx="128016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423160"/>
            <a:ext cx="11887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EC111A"/>
                </a:solidFill>
                <a:latin typeface="Open Sans"/>
              </a:rPr>
              <a:t>HITL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2423160"/>
            <a:ext cx="347472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2423160"/>
            <a:ext cx="33832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Llamar Motor Riesgo vía IDMC, interpretar resultado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2423160"/>
            <a:ext cx="237744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2423160"/>
            <a:ext cx="22860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Oficial crédito si fuera parámetros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2423160"/>
            <a:ext cx="210312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20" y="2423160"/>
            <a:ext cx="20116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Disclosure pre-oferta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0040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200400"/>
            <a:ext cx="192024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25337E"/>
                </a:solidFill>
                <a:latin typeface="Open Sans"/>
              </a:rPr>
              <a:t>Gestión Documental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20040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3200400"/>
            <a:ext cx="11887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138468"/>
                </a:solidFill>
                <a:latin typeface="Open Sans"/>
              </a:rPr>
              <a:t>Autónomo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40" y="320040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4760" y="3200400"/>
            <a:ext cx="33832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Solicitar docs, Einstein IDP, enviar on-prem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320040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3200400"/>
            <a:ext cx="22860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Si documento ilegible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320040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3200400"/>
            <a:ext cx="20116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No continuar sin KYC OK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977640"/>
            <a:ext cx="201168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77640"/>
            <a:ext cx="192024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25337E"/>
                </a:solidFill>
                <a:latin typeface="Open Sans"/>
              </a:rPr>
              <a:t>Firma y Activación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3977640"/>
            <a:ext cx="128016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14600" y="3977640"/>
            <a:ext cx="11887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138468"/>
                </a:solidFill>
                <a:latin typeface="Open Sans"/>
              </a:rPr>
              <a:t>Autónomo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0" y="3977640"/>
            <a:ext cx="347472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94760" y="3977640"/>
            <a:ext cx="33832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DocuSign, Flow convierte Lead, activar via IDMC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3760" y="3977640"/>
            <a:ext cx="237744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69480" y="3977640"/>
            <a:ext cx="22860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Post-aprobación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3977640"/>
            <a:ext cx="2103120" cy="77724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3977640"/>
            <a:ext cx="20116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Verificar firma pre-activación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75488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4754880"/>
            <a:ext cx="192024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25337E"/>
                </a:solidFill>
                <a:latin typeface="Open Sans"/>
              </a:rPr>
              <a:t>Soporte + NBA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68880" y="475488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14600" y="4754880"/>
            <a:ext cx="118872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138468"/>
                </a:solidFill>
                <a:latin typeface="Open Sans"/>
              </a:rPr>
              <a:t>Autónomo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9040" y="475488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94760" y="4754880"/>
            <a:ext cx="33832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FAQ producto, NBA Data Cloud, cross-sell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60" y="475488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69480" y="4754880"/>
            <a:ext cx="22860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Servicio al cliente si escala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475488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4754880"/>
            <a:ext cx="201168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Open Sans"/>
              </a:rPr>
              <a:t>Consentimiento NBA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852160"/>
            <a:ext cx="3703320" cy="594360"/>
          </a:xfrm>
          <a:prstGeom prst="roundRect">
            <a:avLst>
              <a:gd name="adj" fmla="val 15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89788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Montserrat"/>
              </a:rPr>
              <a:t>HABEAS DATA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17220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Open Sans"/>
              </a:rPr>
              <a:t>Consentimiento explícito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51960" y="5852160"/>
            <a:ext cx="3703320" cy="594360"/>
          </a:xfrm>
          <a:prstGeom prst="roundRect">
            <a:avLst>
              <a:gd name="adj" fmla="val 15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51960" y="589788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Montserrat"/>
              </a:rPr>
              <a:t>SARLAFT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51960" y="617220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Open Sans"/>
              </a:rPr>
              <a:t>Validación pre-activación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46720" y="5852160"/>
            <a:ext cx="3703320" cy="594360"/>
          </a:xfrm>
          <a:prstGeom prst="roundRect">
            <a:avLst>
              <a:gd name="adj" fmla="val 15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20" y="589788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Montserrat"/>
              </a:rPr>
              <a:t>Audit Trail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6720" y="617220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Open Sans"/>
              </a:rPr>
              <a:t>Cada acción auditada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Comparativa Visual — Solución 1 vs. Solución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Misma base Sales Cloud · diferente nivel de automatización IA</a:t>
            </a:r>
          </a:p>
        </p:txBody>
      </p:sp>
      <p:pic>
        <p:nvPicPr>
          <p:cNvPr id="8" name="Picture 7" descr="comparativo_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840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212080"/>
            <a:ext cx="3474720" cy="292608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Criterio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5212080"/>
            <a:ext cx="3886200" cy="292608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5212080"/>
            <a:ext cx="3886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Sol 1: Sales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5212080"/>
            <a:ext cx="3886200" cy="292608"/>
          </a:xfrm>
          <a:prstGeom prst="rect">
            <a:avLst/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5212080"/>
            <a:ext cx="3886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Sol 2: Agentforce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04688"/>
            <a:ext cx="3474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504688"/>
            <a:ext cx="34747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Tiempo de alta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5504688"/>
            <a:ext cx="3886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550468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0176D3"/>
                </a:solidFill>
                <a:latin typeface="Open Sans"/>
              </a:rPr>
              <a:t>15-20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5504688"/>
            <a:ext cx="3886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550468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8-12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79008"/>
            <a:ext cx="347472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779008"/>
            <a:ext cx="34747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Implementación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5779008"/>
            <a:ext cx="388620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577900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0176D3"/>
                </a:solidFill>
                <a:latin typeface="Open Sans"/>
              </a:rPr>
              <a:t>6-8 semanas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5779008"/>
            <a:ext cx="388620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577900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12-16 semanas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053328"/>
            <a:ext cx="3474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53328"/>
            <a:ext cx="34747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ROI 12 meses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6053328"/>
            <a:ext cx="3886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605332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0176D3"/>
                </a:solidFill>
                <a:latin typeface="Open Sans"/>
              </a:rPr>
              <a:t>80-120%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6053328"/>
            <a:ext cx="3886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605332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130-200%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327648"/>
            <a:ext cx="347472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327648"/>
            <a:ext cx="34747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Open Sans"/>
              </a:rPr>
              <a:t>Ideal cuando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6327648"/>
            <a:ext cx="388620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632764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0176D3"/>
                </a:solidFill>
                <a:latin typeface="Open Sans"/>
              </a:rPr>
              <a:t>MVP urgente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6327648"/>
            <a:ext cx="3886200" cy="274320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6327648"/>
            <a:ext cx="3886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EC111A"/>
                </a:solidFill>
                <a:latin typeface="Open Sans"/>
              </a:rPr>
              <a:t>Escala 24/7 + NBA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ROI Comparativo — Metodología Transparente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Estimado conservador · validar con finanzas Davibank antes del business case</a:t>
            </a:r>
          </a:p>
        </p:txBody>
      </p:sp>
      <p:pic>
        <p:nvPicPr>
          <p:cNvPr id="8" name="Picture 7" descr="roi_acu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5212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188720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188720"/>
            <a:ext cx="109728" cy="11430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280160"/>
            <a:ext cx="40233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1" i="0">
                <a:solidFill>
                  <a:srgbClr val="25337E"/>
                </a:solidFill>
                <a:latin typeface="Montserrat"/>
              </a:rPr>
              <a:t>Reducción tiempo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554480"/>
            <a:ext cx="402336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475862"/>
                </a:solidFill>
                <a:latin typeface="Open Sans"/>
              </a:rPr>
              <a:t>40% × N altas/mes × delta costo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783080"/>
            <a:ext cx="40233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C111A"/>
                </a:solidFill>
                <a:latin typeface="Montserrat"/>
              </a:rPr>
              <a:t>USD $15K – $40K 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057400"/>
            <a:ext cx="402336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Open Sans"/>
              </a:rPr>
              <a:t>Fuente: Forrester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423160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2423160"/>
            <a:ext cx="109728" cy="11430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514600"/>
            <a:ext cx="40233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1" i="0">
                <a:solidFill>
                  <a:srgbClr val="25337E"/>
                </a:solidFill>
                <a:latin typeface="Montserrat"/>
              </a:rPr>
              <a:t>Deflexión consultas post-alta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788920"/>
            <a:ext cx="402336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475862"/>
                </a:solidFill>
                <a:latin typeface="Open Sans"/>
              </a:rPr>
              <a:t>35% × N consultas × delta canal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017520"/>
            <a:ext cx="40233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C111A"/>
                </a:solidFill>
                <a:latin typeface="Montserrat"/>
              </a:rPr>
              <a:t>USD $8K – $20K /mes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291840"/>
            <a:ext cx="402336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Open Sans"/>
              </a:rPr>
              <a:t>Fuente: SF State of Service 2024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657600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3657600"/>
            <a:ext cx="109728" cy="11430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3749040"/>
            <a:ext cx="40233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1" i="0">
                <a:solidFill>
                  <a:srgbClr val="25337E"/>
                </a:solidFill>
                <a:latin typeface="Montserrat"/>
              </a:rPr>
              <a:t>Eficiencia documental Einstein IDP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023360"/>
            <a:ext cx="402336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475862"/>
                </a:solidFill>
                <a:latin typeface="Open Sans"/>
              </a:rPr>
              <a:t>N docs/mes × min ahorrados × $/hora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251960"/>
            <a:ext cx="40233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C111A"/>
                </a:solidFill>
                <a:latin typeface="Montserrat"/>
              </a:rPr>
              <a:t>USD $5K – $12K /mes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526280"/>
            <a:ext cx="402336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Open Sans"/>
              </a:rPr>
              <a:t>Fuente: Gartner IDP 2023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4892040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4892040"/>
            <a:ext cx="109728" cy="1143000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4983480"/>
            <a:ext cx="402336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1" i="0">
                <a:solidFill>
                  <a:srgbClr val="25337E"/>
                </a:solidFill>
                <a:latin typeface="Montserrat"/>
              </a:rPr>
              <a:t>Cumplimiento SFC — multas evitadas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257800"/>
            <a:ext cx="402336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475862"/>
                </a:solidFill>
                <a:latin typeface="Open Sans"/>
              </a:rPr>
              <a:t>Riesgo sanción evitado por trazabilidad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5486400"/>
            <a:ext cx="40233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C111A"/>
                </a:solidFill>
                <a:latin typeface="Montserrat"/>
              </a:rPr>
              <a:t>USD $10K – $30K /mes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5760720"/>
            <a:ext cx="402336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Open Sans"/>
              </a:rPr>
              <a:t>Fuente: SFC Circular 029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Hoja de Ruta y Próximos Pasos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3 fases · 12+ semanas · responsables claros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749039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FC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749039" cy="54864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Montserrat"/>
              </a:rPr>
              <a:t>FASE 1 — FUNDACIÓN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3749039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50" b="0" i="1">
                <a:solidFill>
                  <a:srgbClr val="1E293B"/>
                </a:solidFill>
                <a:latin typeface="Open Sans"/>
              </a:rPr>
              <a:t>Semanas 1-4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Open San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6596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Workshop discovery: APIs on-prem disponibles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Open San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4320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Inventario conectores IDMC existentes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Open San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Decisión: Web-to-Lead / Experience Cloud / LWC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Open San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Evaluar KYC actual: compatible AppExchange?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Open San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Sizing: volumen altas/mes → licencias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399" y="1188720"/>
            <a:ext cx="3749039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17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399" y="1188720"/>
            <a:ext cx="3749039" cy="548640"/>
          </a:xfrm>
          <a:prstGeom prst="rect">
            <a:avLst/>
          </a:prstGeom>
          <a:solidFill>
            <a:srgbClr val="01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399" y="12344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FASE 2 — POC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1481328"/>
            <a:ext cx="3749039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Open Sans"/>
              </a:rPr>
              <a:t>Semanas 4-8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196596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176D3"/>
                </a:solidFill>
                <a:latin typeface="Open Sans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196596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POC Sol 1: Web-to-Lead + Flow básico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274320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176D3"/>
                </a:solidFill>
                <a:latin typeface="Open Sans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74320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POC integración: 1 Apex Callout o IDMC (Motor Riesgo)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352044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176D3"/>
                </a:solidFill>
                <a:latin typeface="Open Sans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352044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Demo ejecutiva con arquitectura completa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429768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176D3"/>
                </a:solidFill>
                <a:latin typeface="Open Sans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429768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ROI cuantificado con datos del POC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598" y="1188720"/>
            <a:ext cx="3749039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38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598" y="1188720"/>
            <a:ext cx="3749039" cy="548640"/>
          </a:xfrm>
          <a:prstGeom prst="rect">
            <a:avLst/>
          </a:prstGeom>
          <a:solidFill>
            <a:srgbClr val="138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8" y="12344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FASE 3 — IMPLEMENTACIÓN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8" y="1481328"/>
            <a:ext cx="3749039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Open Sans"/>
              </a:rPr>
              <a:t>Semana 8+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8" y="196596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38468"/>
                </a:solidFill>
                <a:latin typeface="Open Sans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78" y="196596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Contratación licencias (Exp. Cloud + AppExchange)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8" y="274320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38468"/>
                </a:solidFill>
                <a:latin typeface="Open Sans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78" y="274320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Implementación Sol 1 con partner certificado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8" y="352044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38468"/>
                </a:solidFill>
                <a:latin typeface="Open Sans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78" y="352044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Planificación Sol 2: Agentforce con 1 Topic inicial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8" y="4297680"/>
            <a:ext cx="1828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38468"/>
                </a:solidFill>
                <a:latin typeface="Open Sans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78" y="4297680"/>
            <a:ext cx="3200399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Open Sans"/>
              </a:rPr>
              <a:t>Roadmap escalamiento por topic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Lista de Materiales — Solución 1: Sales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Licencias · Componentes técnicos · Inversión estimada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EC111A"/>
                </a:solidFill>
                <a:latin typeface="Montserrat"/>
              </a:rPr>
              <a:t>A. Licencias Salesforce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20040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Producto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554480"/>
            <a:ext cx="182880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54480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Estado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554480"/>
            <a:ext cx="621792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554480"/>
            <a:ext cx="6217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Notas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47088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47088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Sales Cloud Unlimited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847088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847088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38468"/>
                </a:solidFill>
                <a:latin typeface="Open Sans"/>
              </a:rPr>
              <a:t>YA ACTIVO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847088"/>
            <a:ext cx="6217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847088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Base de la solución — reutilizar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39696"/>
            <a:ext cx="32004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39696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Informatica IDMC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139696"/>
            <a:ext cx="18288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2139696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38468"/>
                </a:solidFill>
                <a:latin typeface="Open Sans"/>
              </a:rPr>
              <a:t>YA ACTIVO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139696"/>
            <a:ext cx="621792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139696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Capa integración on-prem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32304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432304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Marketing Cloud ExactTarget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2432304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2432304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38468"/>
                </a:solidFill>
                <a:latin typeface="Open Sans"/>
              </a:rPr>
              <a:t>YA ACTIVO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432304"/>
            <a:ext cx="6217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2432304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Notificaciones post-alta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724912"/>
            <a:ext cx="32004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724912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Experience Cloud (Customer)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2724912"/>
            <a:ext cx="18288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724912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2724912"/>
            <a:ext cx="621792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2724912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Formulario embebido — por MAU/Logins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017520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017520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AppExchange: Truora / Onfido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3017520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017520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017520"/>
            <a:ext cx="6217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3017520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KYC + biometría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310128"/>
            <a:ext cx="32004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310128"/>
            <a:ext cx="30175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AppExchange: DocuSign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3310128"/>
            <a:ext cx="182880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0" y="3310128"/>
            <a:ext cx="1645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310128"/>
            <a:ext cx="6217920" cy="292608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3310128"/>
            <a:ext cx="603504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Firma digital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303520"/>
            <a:ext cx="11247120" cy="1097280"/>
          </a:xfrm>
          <a:prstGeom prst="roundRect">
            <a:avLst>
              <a:gd name="adj" fmla="val 4000"/>
            </a:avLst>
          </a:prstGeom>
          <a:solidFill>
            <a:srgbClr val="25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39496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Montserrat"/>
              </a:rPr>
              <a:t>Estimado de Inversión — Solución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71500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Open Sans"/>
              </a:rPr>
              <a:t>Implementación (partner + config):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571500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USD $60,000 – $120,000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Open Sans"/>
              </a:rPr>
              <a:t>Licencias adicionales /mes: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598932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USD $5,000 – $15,000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FFC300"/>
                </a:solidFill>
                <a:latin typeface="Open Sans"/>
              </a:rPr>
              <a:t>Validar con equipo comercial Salesforce · Sales Cloud ya pagado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75862"/>
                </a:solidFill>
                <a:latin typeface="Open Sans"/>
              </a:rP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6629400"/>
            <a:ext cx="246888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475862"/>
                </a:solidFill>
                <a:latin typeface="Open Sans"/>
              </a:rPr>
              <a:t>Confidencial — Uso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629400"/>
            <a:ext cx="2286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1" i="0">
                <a:solidFill>
                  <a:srgbClr val="0176D3"/>
                </a:solidFill>
                <a:latin typeface="Open Sans"/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25337E"/>
                </a:solidFill>
                <a:latin typeface="Montserrat"/>
              </a:rPr>
              <a:t>Lista de Materiales — Solución 2: Agentforce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75862"/>
                </a:solidFill>
                <a:latin typeface="Open Sans"/>
              </a:rPr>
              <a:t>Sobre Solución 1 · licencias y componentes adicionales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EC111A"/>
                </a:solidFill>
                <a:latin typeface="Montserrat"/>
              </a:rPr>
              <a:t>A. Licencias Adicionales sobre Solución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20040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32004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Producto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554480"/>
            <a:ext cx="182880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54480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Estado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554480"/>
            <a:ext cx="6217920" cy="292608"/>
          </a:xfrm>
          <a:prstGeom prst="rect">
            <a:avLst/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554480"/>
            <a:ext cx="62179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Notas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4708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47088"/>
            <a:ext cx="30175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Todo lo de Solución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84708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847088"/>
            <a:ext cx="16459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847088"/>
            <a:ext cx="6217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847088"/>
            <a:ext cx="603504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Base requerida — no repetir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76272"/>
            <a:ext cx="320040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76272"/>
            <a:ext cx="30175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Agentforce Service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176272"/>
            <a:ext cx="182880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2176272"/>
            <a:ext cx="16459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176272"/>
            <a:ext cx="621792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176272"/>
            <a:ext cx="603504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Flex Credits o licencia dedicada según volumen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505456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05456"/>
            <a:ext cx="30175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Data Cloud (Growth)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2505456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2505456"/>
            <a:ext cx="16459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505456"/>
            <a:ext cx="6217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2505456"/>
            <a:ext cx="603504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Unified Individual · Calculated Insights · NBA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34640"/>
            <a:ext cx="320040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834640"/>
            <a:ext cx="30175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Einstein IDP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2834640"/>
            <a:ext cx="182880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834640"/>
            <a:ext cx="16459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EC111A"/>
                </a:solidFill>
                <a:latin typeface="Open Sans"/>
              </a:rPr>
              <a:t>Recomendado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2834640"/>
            <a:ext cx="6217920" cy="329184"/>
          </a:xfrm>
          <a:prstGeom prst="rect">
            <a:avLst/>
          </a:prstGeom>
          <a:solidFill>
            <a:srgbClr val="F3F3F3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2834640"/>
            <a:ext cx="603504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Extracción documental — por página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16382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163824"/>
            <a:ext cx="30175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Open Sans"/>
              </a:rPr>
              <a:t>Messaging for In-App &amp; Web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316382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3163824"/>
            <a:ext cx="164592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1" i="0">
                <a:solidFill>
                  <a:srgbClr val="0176D3"/>
                </a:solidFill>
                <a:latin typeface="Open Sans"/>
              </a:rPr>
              <a:t>Opcional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163824"/>
            <a:ext cx="6217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3163824"/>
            <a:ext cx="6035040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Open Sans"/>
              </a:rPr>
              <a:t>Canal WhatsApp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65760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EC111A"/>
                </a:solidFill>
                <a:latin typeface="Montserrat"/>
              </a:rPr>
              <a:t>B. Componentes Técnicos Adicionales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023360"/>
            <a:ext cx="5577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02336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 i="0">
                <a:solidFill>
                  <a:srgbClr val="25337E"/>
                </a:solidFill>
                <a:latin typeface="Montserrat"/>
              </a:rPr>
              <a:t>Agentforce Topics &amp;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402336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5 topics del proceso alta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023360"/>
            <a:ext cx="5577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02336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 i="0">
                <a:solidFill>
                  <a:srgbClr val="25337E"/>
                </a:solidFill>
                <a:latin typeface="Montserrat"/>
              </a:rPr>
              <a:t>Data Cloud DMOs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02336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Unified Individual · Financial Account · Insights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434840"/>
            <a:ext cx="5577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4348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 i="0">
                <a:solidFill>
                  <a:srgbClr val="25337E"/>
                </a:solidFill>
                <a:latin typeface="Montserrat"/>
              </a:rPr>
              <a:t>Identity Resolution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6080" y="443484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Perfil único cross-sistemas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4434840"/>
            <a:ext cx="5577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44348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 i="0">
                <a:solidFill>
                  <a:srgbClr val="25337E"/>
                </a:solidFill>
                <a:latin typeface="Montserrat"/>
              </a:rPr>
              <a:t>Einstein IDP Actions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43484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Extracción automática documentos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4846320"/>
            <a:ext cx="1124712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C1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4846320"/>
            <a:ext cx="41148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 i="0">
                <a:solidFill>
                  <a:srgbClr val="25337E"/>
                </a:solidFill>
                <a:latin typeface="Montserrat"/>
              </a:rPr>
              <a:t>NBA Actions (Data Cloud)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48463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Open Sans"/>
              </a:rPr>
              <a:t>Recomendación post-alta automática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532120"/>
            <a:ext cx="11247120" cy="914400"/>
          </a:xfrm>
          <a:prstGeom prst="roundRect">
            <a:avLst>
              <a:gd name="adj" fmla="val 4000"/>
            </a:avLst>
          </a:prstGeom>
          <a:solidFill>
            <a:srgbClr val="EC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Montserrat"/>
              </a:rPr>
              <a:t>Estimado de Inversión Total — Solución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852160"/>
            <a:ext cx="548640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Open Sans"/>
              </a:rPr>
              <a:t>Implementación total: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6320" y="5852160"/>
            <a:ext cx="640080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USD $130,000 – $260,000  (Sol 1 + Agentforce)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6080760"/>
            <a:ext cx="548640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Open Sans"/>
              </a:rPr>
              <a:t>Licencias adicionales /mes: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6080760"/>
            <a:ext cx="6400800" cy="256032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USD $12,000 – $30,000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291072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1">
                <a:solidFill>
                  <a:srgbClr val="FFC300"/>
                </a:solidFill>
                <a:latin typeface="Open Sans"/>
              </a:rPr>
              <a:t>ROI adicional vs. Solución 1: +50-80% a 12 meses · validar con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